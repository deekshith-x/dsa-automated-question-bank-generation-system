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MuseoModerno Medium" panose="020B0604020202020204" charset="0"/>
      <p:regular r:id="rId13"/>
    </p:embeddedFont>
    <p:embeddedFont>
      <p:font typeface="Source Sans 3" panose="020B0604020202020204" charset="0"/>
      <p:regular r:id="rId14"/>
    </p:embeddedFont>
    <p:embeddedFont>
      <p:font typeface="Source Sans 3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497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2EC8-A454-4707-AB28-313F48FCF73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39534F6-2482-75F7-949D-7D2218DAF24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9419767-C8F9-BECF-E908-0129C622A98A}"/>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D2DCCA1D-BE9F-5B60-2BF9-486145DCB0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C74EB3-BD1D-1F6C-EBA0-A73CF7D18B47}"/>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43162360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7A3F0-D252-BCD1-BA50-567FF37688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3169BA-4ADF-0C22-BD08-101981ED42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0B3D6-E07F-09F8-FB0F-33E0F1C6BD77}"/>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DDF407CA-C9C0-AB15-28DC-9EFD0CC6A1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5DEA62-D806-0E51-D785-651AE77E5807}"/>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22030604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8519-08CE-27D8-B4C2-87434447C081}"/>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8D0834-56B6-44A6-602B-857A55A34102}"/>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68E30F-DBD5-96E2-92AD-466341691CB3}"/>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53491DBF-6C6F-86D7-BC68-966F27B1EA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184A8E-5BBA-B96B-3942-8A0160B9CDEA}"/>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353593748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4FAAD-265B-031A-08A5-9852DA2A24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E9AAB0-847F-0299-89CB-049538D554A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E2C0C9-B36D-E999-6C66-6CA50772C92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09587A-DC75-F77D-72D9-EE4C580D7F04}"/>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6" name="Footer Placeholder 5">
            <a:extLst>
              <a:ext uri="{FF2B5EF4-FFF2-40B4-BE49-F238E27FC236}">
                <a16:creationId xmlns:a16="http://schemas.microsoft.com/office/drawing/2014/main" id="{68A1D5CA-EA4D-760D-BA1B-4033AD398D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E33F03-EDEB-DBA5-D749-7AB75DA1332A}"/>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10870985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E308-6736-C1E9-296F-96ECB8B17F5E}"/>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72BEBD-85A6-9730-035C-31C2D241C0C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F617BAF-0C78-597A-EA65-F7356998A41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649033-18FD-1408-E544-5840E164C68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363B6CF-F71A-CCCC-0866-25CC4D8108E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98DC43-EA57-D36F-3235-601B9C4D7EAD}"/>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8" name="Footer Placeholder 7">
            <a:extLst>
              <a:ext uri="{FF2B5EF4-FFF2-40B4-BE49-F238E27FC236}">
                <a16:creationId xmlns:a16="http://schemas.microsoft.com/office/drawing/2014/main" id="{3FFF5089-872C-0758-F60C-EBF354E4B4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46593B-B326-92D0-71BA-25A7266F61CF}"/>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358104519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EEC0-36D0-ABBA-2983-DD6E0A6967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5B9622C-C154-D876-2391-56C4EF40E955}"/>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4" name="Footer Placeholder 3">
            <a:extLst>
              <a:ext uri="{FF2B5EF4-FFF2-40B4-BE49-F238E27FC236}">
                <a16:creationId xmlns:a16="http://schemas.microsoft.com/office/drawing/2014/main" id="{BC291C14-33D2-DD6F-A16D-7809BF9FE35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37E209-FE45-9361-3583-630FD5C52EC6}"/>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8399342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D9F3B-26B4-92B0-724E-F1D35414E7CC}"/>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3" name="Footer Placeholder 2">
            <a:extLst>
              <a:ext uri="{FF2B5EF4-FFF2-40B4-BE49-F238E27FC236}">
                <a16:creationId xmlns:a16="http://schemas.microsoft.com/office/drawing/2014/main" id="{E77ADD75-3881-123C-3F34-70C46C2612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CAB147-B441-6FA2-35A6-DC8F04EF5BEB}"/>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355638990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FD4C4-49CC-84C3-F046-F77239F0708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D1279D-3B3D-BF9D-1794-87B7BC2D8F5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F7CA04-E4F5-BC2F-CFE8-D93D8A1C45F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4BB915D-0565-3719-37EE-22043B22CF84}"/>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6" name="Footer Placeholder 5">
            <a:extLst>
              <a:ext uri="{FF2B5EF4-FFF2-40B4-BE49-F238E27FC236}">
                <a16:creationId xmlns:a16="http://schemas.microsoft.com/office/drawing/2014/main" id="{91BD531E-2A70-2FC9-843D-AB40263BC9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28278A-40F0-8672-CC8E-CB74B7559C35}"/>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26079409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E100E-AE84-E3C5-0448-78509A5C5BF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10A653-803E-7B1D-4F91-3FE60046009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765E0925-8F43-4D5C-3DC6-AD901F11018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FCE3741-1DC3-0058-9123-5BFA32BD3993}"/>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6" name="Footer Placeholder 5">
            <a:extLst>
              <a:ext uri="{FF2B5EF4-FFF2-40B4-BE49-F238E27FC236}">
                <a16:creationId xmlns:a16="http://schemas.microsoft.com/office/drawing/2014/main" id="{D0CE6AC2-BDE6-288B-D17B-CA6A8B894E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7EDD47-9338-90CB-60B7-3300A48C9212}"/>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144309822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255A-2102-29EF-6AAC-7C9535189C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F62558-CF11-1C8A-7F93-E571268DE3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9FBAD-F5F9-5B38-6A41-9CB73A5DFA44}"/>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E9B75047-60D1-04D6-4AEC-15F0676075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78DEB3-56BC-56A5-1D4D-AE0E2428D575}"/>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26766449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850709-9010-7B47-6D34-AA9716D3EC5F}"/>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F43130-5E38-80C4-FE71-80D01B22E861}"/>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09DCDA-E5FB-402E-6AE7-E7367C23AD0A}"/>
              </a:ext>
            </a:extLst>
          </p:cNvPr>
          <p:cNvSpPr>
            <a:spLocks noGrp="1"/>
          </p:cNvSpPr>
          <p:nvPr>
            <p:ph type="dt" sz="half" idx="10"/>
          </p:nvPr>
        </p:nvSpPr>
        <p:spPr/>
        <p:txBody>
          <a:body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22BA09E4-562D-4282-C463-A5A03CA2E4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928D3F-3E25-1D20-D945-10056814C42B}"/>
              </a:ext>
            </a:extLst>
          </p:cNvPr>
          <p:cNvSpPr>
            <a:spLocks noGrp="1"/>
          </p:cNvSpPr>
          <p:nvPr>
            <p:ph type="sldNum" sz="quarter" idx="12"/>
          </p:nvPr>
        </p:nvSpPr>
        <p:spPr/>
        <p:txBody>
          <a:bodyPr/>
          <a:lstStyle/>
          <a:p>
            <a:fld id="{417570C9-9A52-4817-B75E-1E7A93268CE4}" type="slidenum">
              <a:rPr lang="en-IN" smtClean="0"/>
              <a:t>‹#›</a:t>
            </a:fld>
            <a:endParaRPr lang="en-IN"/>
          </a:p>
        </p:txBody>
      </p:sp>
    </p:spTree>
    <p:extLst>
      <p:ext uri="{BB962C8B-B14F-4D97-AF65-F5344CB8AC3E}">
        <p14:creationId xmlns:p14="http://schemas.microsoft.com/office/powerpoint/2010/main" val="29662371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24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6AD6E9-8A2B-E30E-524E-593E23E417F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07A69A-85AE-13CD-5B45-C2C0DCE5DC8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CE8C1D-D52A-CB15-DC34-5F086E8BDFB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1E38B59-634A-4287-880A-0AAE6905B2BD}" type="datetimeFigureOut">
              <a:rPr lang="en-IN" smtClean="0"/>
              <a:t>17-08-2026</a:t>
            </a:fld>
            <a:endParaRPr lang="en-IN"/>
          </a:p>
        </p:txBody>
      </p:sp>
      <p:sp>
        <p:nvSpPr>
          <p:cNvPr id="5" name="Footer Placeholder 4">
            <a:extLst>
              <a:ext uri="{FF2B5EF4-FFF2-40B4-BE49-F238E27FC236}">
                <a16:creationId xmlns:a16="http://schemas.microsoft.com/office/drawing/2014/main" id="{C2272EC4-F327-EAC8-933F-89C2CA82036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A4DF2A8-C854-318F-D28D-58F0CFAF8573}"/>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417570C9-9A52-4817-B75E-1E7A93268CE4}" type="slidenum">
              <a:rPr lang="en-IN" smtClean="0"/>
              <a:t>‹#›</a:t>
            </a:fld>
            <a:endParaRPr lang="en-IN"/>
          </a:p>
        </p:txBody>
      </p:sp>
    </p:spTree>
    <p:extLst>
      <p:ext uri="{BB962C8B-B14F-4D97-AF65-F5344CB8AC3E}">
        <p14:creationId xmlns:p14="http://schemas.microsoft.com/office/powerpoint/2010/main" val="93270629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034"/>
            <a:ext cx="3429000" cy="5143500"/>
          </a:xfrm>
          <a:prstGeom prst="rect">
            <a:avLst/>
          </a:prstGeom>
        </p:spPr>
      </p:pic>
      <p:sp>
        <p:nvSpPr>
          <p:cNvPr id="3" name="Text 0"/>
          <p:cNvSpPr/>
          <p:nvPr/>
        </p:nvSpPr>
        <p:spPr>
          <a:xfrm>
            <a:off x="3925119" y="1723727"/>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24E73"/>
                </a:solidFill>
                <a:latin typeface="MuseoModerno Medium" pitchFamily="34" charset="0"/>
                <a:ea typeface="MuseoModerno Medium" pitchFamily="34" charset="-122"/>
                <a:cs typeface="MuseoModerno Medium" pitchFamily="34" charset="-120"/>
              </a:rPr>
              <a:t>Automated Question Bank Generation System</a:t>
            </a:r>
            <a:endParaRPr lang="en-US" sz="2400" dirty="0"/>
          </a:p>
        </p:txBody>
      </p:sp>
      <p:sp>
        <p:nvSpPr>
          <p:cNvPr id="4" name="Text 1"/>
          <p:cNvSpPr/>
          <p:nvPr/>
        </p:nvSpPr>
        <p:spPr>
          <a:xfrm>
            <a:off x="3819612" y="2755197"/>
            <a:ext cx="4722763" cy="734913"/>
          </a:xfrm>
          <a:prstGeom prst="rect">
            <a:avLst/>
          </a:prstGeom>
          <a:noFill/>
          <a:ln/>
        </p:spPr>
        <p:txBody>
          <a:bodyPr wrap="square" lIns="0" tIns="0" rIns="0" bIns="0" rtlCol="0" anchor="t"/>
          <a:lstStyle/>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PBL Review – 2   </a:t>
            </a:r>
            <a:endParaRPr lang="en-US" sz="950" dirty="0"/>
          </a:p>
          <a:p>
            <a:pPr>
              <a:lnSpc>
                <a:spcPct val="133000"/>
              </a:lnSpc>
            </a:pPr>
            <a:r>
              <a:rPr lang="en-US" sz="950" dirty="0">
                <a:solidFill>
                  <a:srgbClr val="2B4150"/>
                </a:solidFill>
                <a:latin typeface="Source Sans 3" pitchFamily="34" charset="0"/>
                <a:ea typeface="Source Sans 3" pitchFamily="34" charset="-122"/>
                <a:cs typeface="Source Sans 3" pitchFamily="34" charset="-120"/>
              </a:rPr>
              <a:t> </a:t>
            </a:r>
            <a:r>
              <a:rPr lang="en-IN" sz="1000" dirty="0" err="1"/>
              <a:t>Deekshith</a:t>
            </a:r>
            <a:r>
              <a:rPr lang="en-IN" sz="1000" dirty="0"/>
              <a:t> Reddy P  – 2510030389  </a:t>
            </a:r>
          </a:p>
          <a:p>
            <a:pPr>
              <a:lnSpc>
                <a:spcPct val="133000"/>
              </a:lnSpc>
            </a:pPr>
            <a:r>
              <a:rPr lang="en-IN" sz="1000" dirty="0"/>
              <a:t> Jashwanth Yadav G – 2510030155 </a:t>
            </a:r>
          </a:p>
          <a:p>
            <a:pPr>
              <a:lnSpc>
                <a:spcPct val="133000"/>
              </a:lnSpc>
            </a:pPr>
            <a:r>
              <a:rPr lang="en-IN" sz="1000" dirty="0"/>
              <a:t>Dept: Computer Science &amp; Engineering · College: KLH</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47216"/>
            <a:ext cx="8151763" cy="261640"/>
          </a:xfrm>
          <a:prstGeom prst="rect">
            <a:avLst/>
          </a:prstGeom>
          <a:noFill/>
          <a:ln/>
        </p:spPr>
        <p:txBody>
          <a:bodyPr wrap="none" lIns="0" tIns="0" rIns="0" bIns="0" rtlCol="0" anchor="t"/>
          <a:lstStyle/>
          <a:p>
            <a:pPr marL="0" indent="0" algn="l">
              <a:lnSpc>
                <a:spcPct val="104000"/>
              </a:lnSpc>
              <a:buNone/>
            </a:pPr>
            <a:r>
              <a:rPr lang="en-US" sz="1600" dirty="0">
                <a:solidFill>
                  <a:srgbClr val="124E73"/>
                </a:solidFill>
                <a:latin typeface="MuseoModerno Medium" pitchFamily="34" charset="0"/>
                <a:ea typeface="MuseoModerno Medium" pitchFamily="34" charset="-122"/>
                <a:cs typeface="MuseoModerno Medium" pitchFamily="34" charset="-120"/>
              </a:rPr>
              <a:t>Introduction &amp; Problem Statement</a:t>
            </a:r>
            <a:endParaRPr lang="en-US" sz="1600" dirty="0"/>
          </a:p>
        </p:txBody>
      </p:sp>
      <p:sp>
        <p:nvSpPr>
          <p:cNvPr id="3" name="Text 1"/>
          <p:cNvSpPr/>
          <p:nvPr/>
        </p:nvSpPr>
        <p:spPr>
          <a:xfrm>
            <a:off x="496119" y="820787"/>
            <a:ext cx="4788917" cy="308818"/>
          </a:xfrm>
          <a:prstGeom prst="rect">
            <a:avLst/>
          </a:prstGeom>
          <a:noFill/>
          <a:ln/>
        </p:spPr>
        <p:txBody>
          <a:bodyPr wrap="square" lIns="0" tIns="0" rIns="0" bIns="0" rtlCol="0" anchor="t">
            <a:normAutofit/>
          </a:bodyPr>
          <a:lstStyle/>
          <a:p>
            <a:pPr marL="0" indent="0" algn="l">
              <a:lnSpc>
                <a:spcPct val="123000"/>
              </a:lnSpc>
              <a:buNone/>
            </a:pPr>
            <a:r>
              <a:rPr lang="en-US" sz="800" dirty="0">
                <a:solidFill>
                  <a:srgbClr val="2B4150"/>
                </a:solidFill>
                <a:latin typeface="Source Sans 3" pitchFamily="34" charset="0"/>
                <a:ea typeface="Source Sans 3" pitchFamily="34" charset="-122"/>
                <a:cs typeface="Source Sans 3" pitchFamily="34" charset="-120"/>
              </a:rPr>
              <a:t>         Preparing exam questions manually is time-consuming, repetitive, and error-prone. Teachers need varied questions across topics and difficulty levels, and maintaining large question banks is difficult.       </a:t>
            </a:r>
            <a:endParaRPr lang="en-US" sz="800" dirty="0"/>
          </a:p>
        </p:txBody>
      </p:sp>
      <p:sp>
        <p:nvSpPr>
          <p:cNvPr id="4" name="Text 2"/>
          <p:cNvSpPr/>
          <p:nvPr/>
        </p:nvSpPr>
        <p:spPr>
          <a:xfrm>
            <a:off x="496119" y="1209080"/>
            <a:ext cx="4788917" cy="710282"/>
          </a:xfrm>
          <a:prstGeom prst="rect">
            <a:avLst/>
          </a:prstGeom>
          <a:noFill/>
          <a:ln/>
        </p:spPr>
        <p:txBody>
          <a:bodyPr wrap="square" lIns="0" tIns="41866" rIns="0" bIns="0" rtlCol="0" anchor="t">
            <a:normAutofit/>
          </a:bodyPr>
          <a:lstStyle/>
          <a:p>
            <a:pPr marL="162560" indent="-162560" algn="l">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Manual preparation leads to repetition and inconsistent difficulty.</a:t>
            </a:r>
            <a:endParaRPr lang="en-US" sz="800" dirty="0"/>
          </a:p>
          <a:p>
            <a:pPr marL="162560" indent="-162560" algn="l">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Organizing and searching large banks is inefficient.</a:t>
            </a:r>
            <a:endParaRPr lang="en-US" sz="800" dirty="0"/>
          </a:p>
          <a:p>
            <a:pPr marL="162560" indent="-162560" algn="l">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Teachers spend significant time creating and curating content.</a:t>
            </a:r>
            <a:endParaRPr lang="en-US" sz="800" dirty="0"/>
          </a:p>
          <a:p>
            <a:pPr marL="162560" indent="-162560" algn="l">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Our system automates generation from textbooks and PDFs to reduce effort.</a:t>
            </a:r>
            <a:endParaRPr lang="en-US" sz="800" dirty="0"/>
          </a:p>
        </p:txBody>
      </p:sp>
      <p:pic>
        <p:nvPicPr>
          <p:cNvPr id="5" name="Image 0" descr="preencoded.png"/>
          <p:cNvPicPr>
            <a:picLocks noChangeAspect="1"/>
          </p:cNvPicPr>
          <p:nvPr/>
        </p:nvPicPr>
        <p:blipFill>
          <a:blip r:embed="rId3"/>
          <a:stretch>
            <a:fillRect/>
          </a:stretch>
        </p:blipFill>
        <p:spPr>
          <a:xfrm>
            <a:off x="5545038" y="840656"/>
            <a:ext cx="3107531" cy="3107531"/>
          </a:xfrm>
          <a:prstGeom prst="rect">
            <a:avLst/>
          </a:prstGeom>
        </p:spPr>
      </p:pic>
      <p:sp>
        <p:nvSpPr>
          <p:cNvPr id="6" name="Shape 3"/>
          <p:cNvSpPr/>
          <p:nvPr/>
        </p:nvSpPr>
        <p:spPr>
          <a:xfrm>
            <a:off x="496119" y="4172992"/>
            <a:ext cx="8151763" cy="14288"/>
          </a:xfrm>
          <a:prstGeom prst="roundRect">
            <a:avLst>
              <a:gd name="adj" fmla="val 49998"/>
            </a:avLst>
          </a:prstGeom>
          <a:solidFill>
            <a:srgbClr val="2B4150">
              <a:alpha val="50000"/>
            </a:srgbClr>
          </a:solidFill>
          <a:ln/>
        </p:spPr>
      </p:sp>
      <p:sp>
        <p:nvSpPr>
          <p:cNvPr id="7" name="Text 4"/>
          <p:cNvSpPr/>
          <p:nvPr/>
        </p:nvSpPr>
        <p:spPr>
          <a:xfrm>
            <a:off x="496119" y="4345856"/>
            <a:ext cx="8151763" cy="163488"/>
          </a:xfrm>
          <a:prstGeom prst="rect">
            <a:avLst/>
          </a:prstGeom>
          <a:noFill/>
          <a:ln/>
        </p:spPr>
        <p:txBody>
          <a:bodyPr wrap="none" lIns="0" tIns="0" rIns="0" bIns="0" rtlCol="0" anchor="t"/>
          <a:lstStyle/>
          <a:p>
            <a:pPr marL="0" indent="0" algn="l">
              <a:lnSpc>
                <a:spcPct val="104000"/>
              </a:lnSpc>
              <a:buNone/>
            </a:pPr>
            <a:r>
              <a:rPr lang="en-US" sz="1000" dirty="0">
                <a:solidFill>
                  <a:srgbClr val="124E73"/>
                </a:solidFill>
                <a:latin typeface="MuseoModerno Medium" pitchFamily="34" charset="0"/>
                <a:ea typeface="MuseoModerno Medium" pitchFamily="34" charset="-122"/>
                <a:cs typeface="MuseoModerno Medium" pitchFamily="34" charset="-120"/>
              </a:rPr>
              <a:t>Problem Statement</a:t>
            </a:r>
            <a:endParaRPr lang="en-US" sz="1000" dirty="0"/>
          </a:p>
        </p:txBody>
      </p:sp>
      <p:sp>
        <p:nvSpPr>
          <p:cNvPr id="8" name="Text 5"/>
          <p:cNvSpPr/>
          <p:nvPr/>
        </p:nvSpPr>
        <p:spPr>
          <a:xfrm>
            <a:off x="496119" y="4641800"/>
            <a:ext cx="8608963" cy="154409"/>
          </a:xfrm>
          <a:prstGeom prst="rect">
            <a:avLst/>
          </a:prstGeom>
          <a:noFill/>
          <a:ln/>
        </p:spPr>
        <p:txBody>
          <a:bodyPr wrap="none" lIns="0" tIns="0" rIns="0" bIns="0" rtlCol="0" anchor="t"/>
          <a:lstStyle/>
          <a:p>
            <a:pPr marL="0" indent="0" algn="l">
              <a:lnSpc>
                <a:spcPct val="123000"/>
              </a:lnSpc>
              <a:buNone/>
            </a:pPr>
            <a:r>
              <a:rPr lang="en-US" sz="800" dirty="0">
                <a:solidFill>
                  <a:srgbClr val="2B4150"/>
                </a:solidFill>
                <a:latin typeface="Source Sans 3" pitchFamily="34" charset="0"/>
                <a:ea typeface="Source Sans 3" pitchFamily="34" charset="-122"/>
                <a:cs typeface="Source Sans 3" pitchFamily="34" charset="-120"/>
              </a:rPr>
              <a:t> “To develop a system that automatically generates, categorizes, and stores questions from educational content while reducing teacher effort and improving question-bank organization.”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083692"/>
            <a:ext cx="8151763" cy="310083"/>
          </a:xfrm>
          <a:prstGeom prst="rect">
            <a:avLst/>
          </a:prstGeom>
          <a:noFill/>
          <a:ln/>
        </p:spPr>
        <p:txBody>
          <a:bodyPr wrap="none" lIns="0" tIns="0" rIns="0" bIns="0" rtlCol="0" anchor="t"/>
          <a:lstStyle/>
          <a:p>
            <a:pPr marL="0" indent="0" algn="l">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1: NLP-Based Automatic QG</a:t>
            </a:r>
            <a:endParaRPr lang="en-US" sz="1950" dirty="0"/>
          </a:p>
        </p:txBody>
      </p:sp>
      <p:sp>
        <p:nvSpPr>
          <p:cNvPr id="3" name="Text 1"/>
          <p:cNvSpPr/>
          <p:nvPr/>
        </p:nvSpPr>
        <p:spPr>
          <a:xfrm>
            <a:off x="496119" y="1691432"/>
            <a:ext cx="392459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Traditional NLP pipelines extract salient text segments and convert them into questions using rule-based templates and syntactic parsing.       </a:t>
            </a:r>
            <a:endParaRPr lang="en-US" sz="950" dirty="0"/>
          </a:p>
        </p:txBody>
      </p:sp>
      <p:sp>
        <p:nvSpPr>
          <p:cNvPr id="4" name="Text 2"/>
          <p:cNvSpPr/>
          <p:nvPr/>
        </p:nvSpPr>
        <p:spPr>
          <a:xfrm>
            <a:off x="496119" y="2199977"/>
            <a:ext cx="3924598" cy="880616"/>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Text processed with tokenization, POS tagging, and dependency parsing.</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Keywords and important sentences are identified for QG.</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Effective for short factual questions and cloze-style items.</a:t>
            </a:r>
            <a:endParaRPr lang="en-US" sz="950" dirty="0"/>
          </a:p>
        </p:txBody>
      </p:sp>
      <p:sp>
        <p:nvSpPr>
          <p:cNvPr id="5" name="Text 3"/>
          <p:cNvSpPr/>
          <p:nvPr/>
        </p:nvSpPr>
        <p:spPr>
          <a:xfrm>
            <a:off x="496119" y="3192214"/>
            <a:ext cx="3924598"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r>
              <a:rPr lang="en-US" sz="950" dirty="0">
                <a:solidFill>
                  <a:srgbClr val="2B4150"/>
                </a:solidFill>
                <a:latin typeface="Source Sans 3" pitchFamily="34" charset="0"/>
                <a:ea typeface="Source Sans 3" pitchFamily="34" charset="-122"/>
                <a:cs typeface="Source Sans 3" pitchFamily="34" charset="-120"/>
              </a:rPr>
              <a:t> grammatical weaknesses, contextual mismatch, and limited difficulty classification.</a:t>
            </a:r>
            <a:endParaRPr lang="en-US" sz="950" dirty="0"/>
          </a:p>
        </p:txBody>
      </p:sp>
      <p:pic>
        <p:nvPicPr>
          <p:cNvPr id="6" name="Image 0" descr="preencoded.png"/>
          <p:cNvPicPr>
            <a:picLocks noChangeAspect="1"/>
          </p:cNvPicPr>
          <p:nvPr/>
        </p:nvPicPr>
        <p:blipFill>
          <a:blip r:embed="rId3"/>
          <a:stretch>
            <a:fillRect/>
          </a:stretch>
        </p:blipFill>
        <p:spPr>
          <a:xfrm>
            <a:off x="4728046" y="1719337"/>
            <a:ext cx="3924598" cy="1692399"/>
          </a:xfrm>
          <a:prstGeom prst="rect">
            <a:avLst/>
          </a:prstGeom>
        </p:spPr>
      </p:pic>
      <p:sp>
        <p:nvSpPr>
          <p:cNvPr id="7" name="Text 4"/>
          <p:cNvSpPr/>
          <p:nvPr/>
        </p:nvSpPr>
        <p:spPr>
          <a:xfrm>
            <a:off x="4992109" y="3090794"/>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Generated Question</a:t>
            </a:r>
            <a:endParaRPr lang="en-US" sz="700" dirty="0"/>
          </a:p>
        </p:txBody>
      </p:sp>
      <p:sp>
        <p:nvSpPr>
          <p:cNvPr id="8" name="Text 5"/>
          <p:cNvSpPr/>
          <p:nvPr/>
        </p:nvSpPr>
        <p:spPr>
          <a:xfrm>
            <a:off x="4992109" y="2699031"/>
            <a:ext cx="1012982"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Important Information</a:t>
            </a:r>
            <a:endParaRPr lang="en-US" sz="700" dirty="0"/>
          </a:p>
        </p:txBody>
      </p:sp>
      <p:sp>
        <p:nvSpPr>
          <p:cNvPr id="9" name="Text 6"/>
          <p:cNvSpPr/>
          <p:nvPr/>
        </p:nvSpPr>
        <p:spPr>
          <a:xfrm>
            <a:off x="4992109" y="2311225"/>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NLP Processing</a:t>
            </a:r>
            <a:endParaRPr lang="en-US" sz="700" dirty="0"/>
          </a:p>
        </p:txBody>
      </p:sp>
      <p:sp>
        <p:nvSpPr>
          <p:cNvPr id="10" name="Text 7"/>
          <p:cNvSpPr/>
          <p:nvPr/>
        </p:nvSpPr>
        <p:spPr>
          <a:xfrm>
            <a:off x="4992109" y="1919462"/>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Text</a:t>
            </a:r>
            <a:endParaRPr lang="en-US" sz="700" dirty="0"/>
          </a:p>
        </p:txBody>
      </p:sp>
      <p:sp>
        <p:nvSpPr>
          <p:cNvPr id="11" name="Text 8"/>
          <p:cNvSpPr/>
          <p:nvPr/>
        </p:nvSpPr>
        <p:spPr>
          <a:xfrm>
            <a:off x="4728046" y="3551262"/>
            <a:ext cx="392459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The pipeline shows extraction of key facts via NLP, followed by template-driven question generation and basic post-processing.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83692"/>
            <a:ext cx="8151763" cy="310083"/>
          </a:xfrm>
          <a:prstGeom prst="rect">
            <a:avLst/>
          </a:prstGeom>
          <a:noFill/>
          <a:ln/>
        </p:spPr>
        <p:txBody>
          <a:bodyPr wrap="none" lIns="0" tIns="0" rIns="0" bIns="0" rtlCol="0" anchor="t"/>
          <a:lstStyle/>
          <a:p>
            <a:pPr marL="0" indent="0" algn="l">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2: Transformer / AI-Based QG</a:t>
            </a:r>
            <a:endParaRPr lang="en-US" sz="1950" dirty="0"/>
          </a:p>
        </p:txBody>
      </p:sp>
      <p:sp>
        <p:nvSpPr>
          <p:cNvPr id="3" name="Text 1"/>
          <p:cNvSpPr/>
          <p:nvPr/>
        </p:nvSpPr>
        <p:spPr>
          <a:xfrm>
            <a:off x="496119" y="1691432"/>
            <a:ext cx="392459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Modern transformer models (T5, BART, BERT variants) frame question generation as sequence-to-sequence tasks, producing more context-aware and varied questions.       </a:t>
            </a:r>
            <a:endParaRPr lang="en-US" sz="950" dirty="0"/>
          </a:p>
        </p:txBody>
      </p:sp>
      <p:sp>
        <p:nvSpPr>
          <p:cNvPr id="4" name="Text 2"/>
          <p:cNvSpPr/>
          <p:nvPr/>
        </p:nvSpPr>
        <p:spPr>
          <a:xfrm>
            <a:off x="496119" y="2398440"/>
            <a:ext cx="3924598" cy="682154"/>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Learns context and generates multiple question types (fact, why, how).</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Better grammar and coherence compared to rule-based systems.</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Scales for large corpora and diverse curricula.</a:t>
            </a:r>
            <a:endParaRPr lang="en-US" sz="950" dirty="0"/>
          </a:p>
        </p:txBody>
      </p:sp>
      <p:sp>
        <p:nvSpPr>
          <p:cNvPr id="5" name="Text 3"/>
          <p:cNvSpPr/>
          <p:nvPr/>
        </p:nvSpPr>
        <p:spPr>
          <a:xfrm>
            <a:off x="496119" y="3192214"/>
            <a:ext cx="3924598"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r>
              <a:rPr lang="en-US" sz="950" dirty="0">
                <a:solidFill>
                  <a:srgbClr val="2B4150"/>
                </a:solidFill>
                <a:latin typeface="Source Sans 3" pitchFamily="34" charset="0"/>
                <a:ea typeface="Source Sans 3" pitchFamily="34" charset="-122"/>
                <a:cs typeface="Source Sans 3" pitchFamily="34" charset="-120"/>
              </a:rPr>
              <a:t> large dataset needs, high compute, and the need for human quality checks.</a:t>
            </a:r>
            <a:endParaRPr lang="en-US" sz="950" dirty="0"/>
          </a:p>
        </p:txBody>
      </p:sp>
      <p:pic>
        <p:nvPicPr>
          <p:cNvPr id="6" name="Image 0" descr="preencoded.png"/>
          <p:cNvPicPr>
            <a:picLocks noChangeAspect="1"/>
          </p:cNvPicPr>
          <p:nvPr/>
        </p:nvPicPr>
        <p:blipFill>
          <a:blip r:embed="rId3"/>
          <a:stretch>
            <a:fillRect/>
          </a:stretch>
        </p:blipFill>
        <p:spPr>
          <a:xfrm>
            <a:off x="4728046" y="1719337"/>
            <a:ext cx="3924598" cy="1692399"/>
          </a:xfrm>
          <a:prstGeom prst="rect">
            <a:avLst/>
          </a:prstGeom>
        </p:spPr>
      </p:pic>
      <p:sp>
        <p:nvSpPr>
          <p:cNvPr id="7" name="Text 4"/>
          <p:cNvSpPr/>
          <p:nvPr/>
        </p:nvSpPr>
        <p:spPr>
          <a:xfrm>
            <a:off x="4992109" y="3090794"/>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Quality Check</a:t>
            </a:r>
            <a:endParaRPr lang="en-US" sz="700" dirty="0"/>
          </a:p>
        </p:txBody>
      </p:sp>
      <p:sp>
        <p:nvSpPr>
          <p:cNvPr id="8" name="Text 5"/>
          <p:cNvSpPr/>
          <p:nvPr/>
        </p:nvSpPr>
        <p:spPr>
          <a:xfrm>
            <a:off x="4992109" y="2699031"/>
            <a:ext cx="904036"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Question Generation</a:t>
            </a:r>
            <a:endParaRPr lang="en-US" sz="700" dirty="0"/>
          </a:p>
        </p:txBody>
      </p:sp>
      <p:sp>
        <p:nvSpPr>
          <p:cNvPr id="9" name="Text 6"/>
          <p:cNvSpPr/>
          <p:nvPr/>
        </p:nvSpPr>
        <p:spPr>
          <a:xfrm>
            <a:off x="4992109" y="2311225"/>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Transformer Model</a:t>
            </a:r>
            <a:endParaRPr lang="en-US" sz="700" dirty="0"/>
          </a:p>
        </p:txBody>
      </p:sp>
      <p:sp>
        <p:nvSpPr>
          <p:cNvPr id="10" name="Text 7"/>
          <p:cNvSpPr/>
          <p:nvPr/>
        </p:nvSpPr>
        <p:spPr>
          <a:xfrm>
            <a:off x="4992109" y="1919462"/>
            <a:ext cx="890371" cy="111296"/>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Educational Text</a:t>
            </a:r>
            <a:endParaRPr lang="en-US" sz="700" dirty="0"/>
          </a:p>
        </p:txBody>
      </p:sp>
      <p:sp>
        <p:nvSpPr>
          <p:cNvPr id="11" name="Text 8"/>
          <p:cNvSpPr/>
          <p:nvPr/>
        </p:nvSpPr>
        <p:spPr>
          <a:xfrm>
            <a:off x="4728046" y="3551262"/>
            <a:ext cx="392459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A transformer encodes context and decodes question candidates; outputs require filtering, ranking, and human validation for high-stakes use.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861864"/>
            <a:ext cx="8151763" cy="310083"/>
          </a:xfrm>
          <a:prstGeom prst="rect">
            <a:avLst/>
          </a:prstGeom>
          <a:noFill/>
          <a:ln/>
        </p:spPr>
        <p:txBody>
          <a:bodyPr wrap="none" lIns="0" tIns="0" rIns="0" bIns="0" rtlCol="0" anchor="t"/>
          <a:lstStyle/>
          <a:p>
            <a:pPr marL="0" indent="0" algn="l">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3: Online Question Bank Systems</a:t>
            </a:r>
            <a:endParaRPr lang="en-US" sz="1950" dirty="0"/>
          </a:p>
        </p:txBody>
      </p:sp>
      <p:sp>
        <p:nvSpPr>
          <p:cNvPr id="3" name="Text 1"/>
          <p:cNvSpPr/>
          <p:nvPr/>
        </p:nvSpPr>
        <p:spPr>
          <a:xfrm>
            <a:off x="496119" y="1469603"/>
            <a:ext cx="4347270"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Learning management systems and online banks emphasize storage, retrieval, and test assembly rather than automatic generation.       </a:t>
            </a:r>
            <a:endParaRPr lang="en-US" sz="950" dirty="0"/>
          </a:p>
        </p:txBody>
      </p:sp>
      <p:sp>
        <p:nvSpPr>
          <p:cNvPr id="4" name="Text 2"/>
          <p:cNvSpPr/>
          <p:nvPr/>
        </p:nvSpPr>
        <p:spPr>
          <a:xfrm>
            <a:off x="496119" y="1978149"/>
            <a:ext cx="4347270" cy="682154"/>
          </a:xfrm>
          <a:prstGeom prst="rect">
            <a:avLst/>
          </a:prstGeom>
          <a:noFill/>
          <a:ln/>
        </p:spPr>
        <p:txBody>
          <a:bodyPr wrap="square" lIns="0" tIns="49619" rIns="0" bIns="0" rtlCol="0" anchor="t">
            <a:normAutofit/>
          </a:bodyPr>
          <a:lstStyle/>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Questions stored in structured databases with metadata.</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Search, tagging, and filtered export for test creation.</a:t>
            </a:r>
            <a:endParaRPr lang="en-US" sz="950" dirty="0"/>
          </a:p>
          <a:p>
            <a:pPr marL="193040" indent="-193040" algn="l">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Teacher-driven entry and manual curation remain common.</a:t>
            </a:r>
            <a:endParaRPr lang="en-US" sz="950" dirty="0"/>
          </a:p>
        </p:txBody>
      </p:sp>
      <p:sp>
        <p:nvSpPr>
          <p:cNvPr id="5" name="Text 3"/>
          <p:cNvSpPr/>
          <p:nvPr/>
        </p:nvSpPr>
        <p:spPr>
          <a:xfrm>
            <a:off x="496119" y="2771924"/>
            <a:ext cx="4347270" cy="396925"/>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r>
              <a:rPr lang="en-US" sz="950" dirty="0">
                <a:solidFill>
                  <a:srgbClr val="2B4150"/>
                </a:solidFill>
                <a:latin typeface="Source Sans 3" pitchFamily="34" charset="0"/>
                <a:ea typeface="Source Sans 3" pitchFamily="34" charset="-122"/>
                <a:cs typeface="Source Sans 3" pitchFamily="34" charset="-120"/>
              </a:rPr>
              <a:t> reliance on manual input; limited automatic generation and difficulty estimation.</a:t>
            </a:r>
            <a:endParaRPr lang="en-US" sz="950" dirty="0"/>
          </a:p>
        </p:txBody>
      </p:sp>
      <p:pic>
        <p:nvPicPr>
          <p:cNvPr id="6" name="Image 0" descr="preencoded.png"/>
          <p:cNvPicPr>
            <a:picLocks noChangeAspect="1"/>
          </p:cNvPicPr>
          <p:nvPr/>
        </p:nvPicPr>
        <p:blipFill>
          <a:blip r:embed="rId3"/>
          <a:stretch>
            <a:fillRect/>
          </a:stretch>
        </p:blipFill>
        <p:spPr>
          <a:xfrm>
            <a:off x="5150718" y="1497509"/>
            <a:ext cx="3501851" cy="2136056"/>
          </a:xfrm>
          <a:prstGeom prst="rect">
            <a:avLst/>
          </a:prstGeom>
        </p:spPr>
      </p:pic>
      <p:sp>
        <p:nvSpPr>
          <p:cNvPr id="7" name="Text 4"/>
          <p:cNvSpPr/>
          <p:nvPr/>
        </p:nvSpPr>
        <p:spPr>
          <a:xfrm>
            <a:off x="5235055" y="1915105"/>
            <a:ext cx="798076" cy="106308"/>
          </a:xfrm>
          <a:prstGeom prst="rect">
            <a:avLst/>
          </a:prstGeom>
          <a:noFill/>
          <a:ln/>
        </p:spPr>
        <p:txBody>
          <a:bodyPr wrap="none" lIns="0" tIns="0" rIns="0" bIns="0" rtlCol="0" anchor="t"/>
          <a:lstStyle/>
          <a:p>
            <a:pPr marL="0" indent="0" algn="ctr">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Teacher</a:t>
            </a:r>
            <a:endParaRPr lang="en-US" sz="650" dirty="0"/>
          </a:p>
        </p:txBody>
      </p:sp>
      <p:sp>
        <p:nvSpPr>
          <p:cNvPr id="8" name="Text 5"/>
          <p:cNvSpPr/>
          <p:nvPr/>
        </p:nvSpPr>
        <p:spPr>
          <a:xfrm>
            <a:off x="5794057" y="2862072"/>
            <a:ext cx="798076" cy="106308"/>
          </a:xfrm>
          <a:prstGeom prst="rect">
            <a:avLst/>
          </a:prstGeom>
          <a:noFill/>
          <a:ln/>
        </p:spPr>
        <p:txBody>
          <a:bodyPr wrap="none" lIns="0" tIns="0" rIns="0" bIns="0" rtlCol="0" anchor="t"/>
          <a:lstStyle/>
          <a:p>
            <a:pPr marL="0" indent="0" algn="ctr">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Question Entry</a:t>
            </a:r>
            <a:endParaRPr lang="en-US" sz="650" dirty="0"/>
          </a:p>
        </p:txBody>
      </p:sp>
      <p:sp>
        <p:nvSpPr>
          <p:cNvPr id="9" name="Text 6"/>
          <p:cNvSpPr/>
          <p:nvPr/>
        </p:nvSpPr>
        <p:spPr>
          <a:xfrm>
            <a:off x="6474132" y="2016984"/>
            <a:ext cx="824003" cy="106308"/>
          </a:xfrm>
          <a:prstGeom prst="rect">
            <a:avLst/>
          </a:prstGeom>
          <a:noFill/>
          <a:ln/>
        </p:spPr>
        <p:txBody>
          <a:bodyPr wrap="none" lIns="0" tIns="0" rIns="0" bIns="0" rtlCol="0" anchor="t"/>
          <a:lstStyle/>
          <a:p>
            <a:pPr marL="0" indent="0" algn="ctr">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Database</a:t>
            </a:r>
            <a:endParaRPr lang="en-US" sz="650" dirty="0"/>
          </a:p>
        </p:txBody>
      </p:sp>
      <p:sp>
        <p:nvSpPr>
          <p:cNvPr id="10" name="Text 7"/>
          <p:cNvSpPr/>
          <p:nvPr/>
        </p:nvSpPr>
        <p:spPr>
          <a:xfrm>
            <a:off x="7027345" y="3109592"/>
            <a:ext cx="798076" cy="106307"/>
          </a:xfrm>
          <a:prstGeom prst="rect">
            <a:avLst/>
          </a:prstGeom>
          <a:noFill/>
          <a:ln/>
        </p:spPr>
        <p:txBody>
          <a:bodyPr wrap="none" lIns="0" tIns="0" rIns="0" bIns="0" rtlCol="0" anchor="t"/>
          <a:lstStyle/>
          <a:p>
            <a:pPr marL="0" indent="0" algn="ctr">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Search/Filter</a:t>
            </a:r>
            <a:endParaRPr lang="en-US" sz="650" dirty="0"/>
          </a:p>
        </p:txBody>
      </p:sp>
      <p:sp>
        <p:nvSpPr>
          <p:cNvPr id="11" name="Text 8"/>
          <p:cNvSpPr/>
          <p:nvPr/>
        </p:nvSpPr>
        <p:spPr>
          <a:xfrm>
            <a:off x="7735709" y="2239462"/>
            <a:ext cx="798077" cy="106308"/>
          </a:xfrm>
          <a:prstGeom prst="rect">
            <a:avLst/>
          </a:prstGeom>
          <a:noFill/>
          <a:ln/>
        </p:spPr>
        <p:txBody>
          <a:bodyPr wrap="none" lIns="0" tIns="0" rIns="0" bIns="0" rtlCol="0" anchor="t"/>
          <a:lstStyle/>
          <a:p>
            <a:pPr marL="0" indent="0" algn="ctr">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Test</a:t>
            </a:r>
            <a:endParaRPr lang="en-US" sz="650" dirty="0"/>
          </a:p>
        </p:txBody>
      </p:sp>
      <p:sp>
        <p:nvSpPr>
          <p:cNvPr id="12" name="Text 9"/>
          <p:cNvSpPr/>
          <p:nvPr/>
        </p:nvSpPr>
        <p:spPr>
          <a:xfrm>
            <a:off x="5150718" y="3773091"/>
            <a:ext cx="3501851"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Emphasizes management and retrieval capabilities but limited automation in content creation.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57411"/>
            <a:ext cx="8151763" cy="295573"/>
          </a:xfrm>
          <a:prstGeom prst="rect">
            <a:avLst/>
          </a:prstGeom>
          <a:noFill/>
          <a:ln/>
        </p:spPr>
        <p:txBody>
          <a:bodyPr wrap="none" lIns="0" tIns="0" rIns="0" bIns="0" rtlCol="0" anchor="t"/>
          <a:lstStyle/>
          <a:p>
            <a:pPr marL="0" indent="0" algn="l">
              <a:lnSpc>
                <a:spcPct val="104000"/>
              </a:lnSpc>
              <a:buNone/>
            </a:pPr>
            <a:r>
              <a:rPr lang="en-US" sz="1850" dirty="0">
                <a:solidFill>
                  <a:srgbClr val="124E73"/>
                </a:solidFill>
                <a:latin typeface="MuseoModerno Medium" pitchFamily="34" charset="0"/>
                <a:ea typeface="MuseoModerno Medium" pitchFamily="34" charset="-122"/>
                <a:cs typeface="MuseoModerno Medium" pitchFamily="34" charset="-120"/>
              </a:rPr>
              <a:t>Comparison of Existing Studies</a:t>
            </a:r>
            <a:endParaRPr lang="en-US" sz="1850" dirty="0"/>
          </a:p>
        </p:txBody>
      </p:sp>
      <p:sp>
        <p:nvSpPr>
          <p:cNvPr id="3" name="Text 1"/>
          <p:cNvSpPr/>
          <p:nvPr/>
        </p:nvSpPr>
        <p:spPr>
          <a:xfrm>
            <a:off x="496119" y="878309"/>
            <a:ext cx="8608963"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     Compact comparison highlights strengths and weaknesses across three solution categories.   </a:t>
            </a:r>
            <a:endParaRPr lang="en-US" sz="900" dirty="0"/>
          </a:p>
        </p:txBody>
      </p:sp>
      <p:sp>
        <p:nvSpPr>
          <p:cNvPr id="4" name="Shape 2"/>
          <p:cNvSpPr/>
          <p:nvPr/>
        </p:nvSpPr>
        <p:spPr>
          <a:xfrm>
            <a:off x="496119" y="1189732"/>
            <a:ext cx="8151763" cy="3011835"/>
          </a:xfrm>
          <a:prstGeom prst="roundRect">
            <a:avLst>
              <a:gd name="adj" fmla="val 589"/>
            </a:avLst>
          </a:prstGeom>
          <a:noFill/>
          <a:ln w="4763">
            <a:solidFill>
              <a:srgbClr val="000000">
                <a:alpha val="8000"/>
              </a:srgbClr>
            </a:solidFill>
            <a:prstDash val="solid"/>
          </a:ln>
        </p:spPr>
      </p:sp>
      <p:sp>
        <p:nvSpPr>
          <p:cNvPr id="5" name="Shape 3"/>
          <p:cNvSpPr/>
          <p:nvPr/>
        </p:nvSpPr>
        <p:spPr>
          <a:xfrm>
            <a:off x="496119" y="1526232"/>
            <a:ext cx="8151763" cy="7389"/>
          </a:xfrm>
          <a:prstGeom prst="rect">
            <a:avLst/>
          </a:prstGeom>
          <a:solidFill>
            <a:srgbClr val="000000">
              <a:alpha val="8000"/>
            </a:srgbClr>
          </a:solidFill>
          <a:ln/>
        </p:spPr>
      </p:sp>
      <p:sp>
        <p:nvSpPr>
          <p:cNvPr id="6" name="Shape 4"/>
          <p:cNvSpPr/>
          <p:nvPr/>
        </p:nvSpPr>
        <p:spPr>
          <a:xfrm>
            <a:off x="496119" y="1860352"/>
            <a:ext cx="8151763" cy="7389"/>
          </a:xfrm>
          <a:prstGeom prst="rect">
            <a:avLst/>
          </a:prstGeom>
          <a:solidFill>
            <a:srgbClr val="000000">
              <a:alpha val="8000"/>
            </a:srgbClr>
          </a:solidFill>
          <a:ln/>
        </p:spPr>
      </p:sp>
      <p:sp>
        <p:nvSpPr>
          <p:cNvPr id="7" name="Shape 5"/>
          <p:cNvSpPr/>
          <p:nvPr/>
        </p:nvSpPr>
        <p:spPr>
          <a:xfrm>
            <a:off x="496119" y="2194471"/>
            <a:ext cx="8151763" cy="7389"/>
          </a:xfrm>
          <a:prstGeom prst="rect">
            <a:avLst/>
          </a:prstGeom>
          <a:solidFill>
            <a:srgbClr val="000000">
              <a:alpha val="8000"/>
            </a:srgbClr>
          </a:solidFill>
          <a:ln/>
        </p:spPr>
      </p:sp>
      <p:sp>
        <p:nvSpPr>
          <p:cNvPr id="8" name="Shape 6"/>
          <p:cNvSpPr/>
          <p:nvPr/>
        </p:nvSpPr>
        <p:spPr>
          <a:xfrm>
            <a:off x="496119" y="2528590"/>
            <a:ext cx="8151763" cy="7389"/>
          </a:xfrm>
          <a:prstGeom prst="rect">
            <a:avLst/>
          </a:prstGeom>
          <a:solidFill>
            <a:srgbClr val="000000">
              <a:alpha val="8000"/>
            </a:srgbClr>
          </a:solidFill>
          <a:ln/>
        </p:spPr>
      </p:sp>
      <p:sp>
        <p:nvSpPr>
          <p:cNvPr id="9" name="Shape 7"/>
          <p:cNvSpPr/>
          <p:nvPr/>
        </p:nvSpPr>
        <p:spPr>
          <a:xfrm>
            <a:off x="496119" y="2862709"/>
            <a:ext cx="8151763" cy="7389"/>
          </a:xfrm>
          <a:prstGeom prst="rect">
            <a:avLst/>
          </a:prstGeom>
          <a:solidFill>
            <a:srgbClr val="000000">
              <a:alpha val="8000"/>
            </a:srgbClr>
          </a:solidFill>
          <a:ln/>
        </p:spPr>
      </p:sp>
      <p:sp>
        <p:nvSpPr>
          <p:cNvPr id="10" name="Shape 8"/>
          <p:cNvSpPr/>
          <p:nvPr/>
        </p:nvSpPr>
        <p:spPr>
          <a:xfrm>
            <a:off x="496119" y="3196828"/>
            <a:ext cx="8151763" cy="7389"/>
          </a:xfrm>
          <a:prstGeom prst="rect">
            <a:avLst/>
          </a:prstGeom>
          <a:solidFill>
            <a:srgbClr val="000000">
              <a:alpha val="8000"/>
            </a:srgbClr>
          </a:solidFill>
          <a:ln/>
        </p:spPr>
      </p:sp>
      <p:sp>
        <p:nvSpPr>
          <p:cNvPr id="11" name="Shape 9"/>
          <p:cNvSpPr/>
          <p:nvPr/>
        </p:nvSpPr>
        <p:spPr>
          <a:xfrm>
            <a:off x="496119" y="3530947"/>
            <a:ext cx="8151763" cy="7389"/>
          </a:xfrm>
          <a:prstGeom prst="rect">
            <a:avLst/>
          </a:prstGeom>
          <a:solidFill>
            <a:srgbClr val="000000">
              <a:alpha val="8000"/>
            </a:srgbClr>
          </a:solidFill>
          <a:ln/>
        </p:spPr>
      </p:sp>
      <p:sp>
        <p:nvSpPr>
          <p:cNvPr id="12" name="Shape 10"/>
          <p:cNvSpPr/>
          <p:nvPr/>
        </p:nvSpPr>
        <p:spPr>
          <a:xfrm>
            <a:off x="496119" y="3865066"/>
            <a:ext cx="8151763" cy="7389"/>
          </a:xfrm>
          <a:prstGeom prst="rect">
            <a:avLst/>
          </a:prstGeom>
          <a:solidFill>
            <a:srgbClr val="000000">
              <a:alpha val="8000"/>
            </a:srgbClr>
          </a:solidFill>
          <a:ln/>
        </p:spPr>
      </p:sp>
      <p:sp>
        <p:nvSpPr>
          <p:cNvPr id="13" name="Text 11"/>
          <p:cNvSpPr/>
          <p:nvPr/>
        </p:nvSpPr>
        <p:spPr>
          <a:xfrm>
            <a:off x="619125" y="1266825"/>
            <a:ext cx="2174974" cy="184696"/>
          </a:xfrm>
          <a:prstGeom prst="rect">
            <a:avLst/>
          </a:prstGeom>
          <a:noFill/>
          <a:ln/>
        </p:spPr>
        <p:txBody>
          <a:bodyPr wrap="none" lIns="0" tIns="0" rIns="0" bIns="0" rtlCol="0" anchor="t"/>
          <a:lstStyle/>
          <a:p>
            <a:pPr marL="0" indent="0" algn="l">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Feature</a:t>
            </a:r>
            <a:endParaRPr lang="en-US" sz="900" dirty="0"/>
          </a:p>
        </p:txBody>
      </p:sp>
      <p:sp>
        <p:nvSpPr>
          <p:cNvPr id="14" name="Text 12"/>
          <p:cNvSpPr/>
          <p:nvPr/>
        </p:nvSpPr>
        <p:spPr>
          <a:xfrm>
            <a:off x="2573238" y="1266825"/>
            <a:ext cx="1767855" cy="184696"/>
          </a:xfrm>
          <a:prstGeom prst="rect">
            <a:avLst/>
          </a:prstGeom>
          <a:noFill/>
          <a:ln/>
        </p:spPr>
        <p:txBody>
          <a:bodyPr wrap="none" lIns="0" tIns="0" rIns="0" bIns="0" rtlCol="0" anchor="t"/>
          <a:lstStyle/>
          <a:p>
            <a:pPr marL="0" indent="0" algn="l">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NLP-Based</a:t>
            </a:r>
            <a:endParaRPr lang="en-US" sz="900" dirty="0"/>
          </a:p>
        </p:txBody>
      </p:sp>
      <p:sp>
        <p:nvSpPr>
          <p:cNvPr id="15" name="Text 13"/>
          <p:cNvSpPr/>
          <p:nvPr/>
        </p:nvSpPr>
        <p:spPr>
          <a:xfrm>
            <a:off x="4120232" y="1266825"/>
            <a:ext cx="2500685" cy="184696"/>
          </a:xfrm>
          <a:prstGeom prst="rect">
            <a:avLst/>
          </a:prstGeom>
          <a:noFill/>
          <a:ln/>
        </p:spPr>
        <p:txBody>
          <a:bodyPr wrap="none" lIns="0" tIns="0" rIns="0" bIns="0" rtlCol="0" anchor="t"/>
          <a:lstStyle/>
          <a:p>
            <a:pPr marL="0" indent="0" algn="l">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Transformer-Based</a:t>
            </a:r>
            <a:endParaRPr lang="en-US" sz="900" dirty="0"/>
          </a:p>
        </p:txBody>
      </p:sp>
      <p:sp>
        <p:nvSpPr>
          <p:cNvPr id="16" name="Text 14"/>
          <p:cNvSpPr/>
          <p:nvPr/>
        </p:nvSpPr>
        <p:spPr>
          <a:xfrm>
            <a:off x="6400056" y="1266825"/>
            <a:ext cx="2582094" cy="184696"/>
          </a:xfrm>
          <a:prstGeom prst="rect">
            <a:avLst/>
          </a:prstGeom>
          <a:noFill/>
          <a:ln/>
        </p:spPr>
        <p:txBody>
          <a:bodyPr wrap="none" lIns="0" tIns="0" rIns="0" bIns="0" rtlCol="0" anchor="t"/>
          <a:lstStyle/>
          <a:p>
            <a:pPr marL="0" indent="0" algn="l">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Online Q Bank</a:t>
            </a:r>
            <a:endParaRPr lang="en-US" sz="900" dirty="0"/>
          </a:p>
        </p:txBody>
      </p:sp>
      <p:sp>
        <p:nvSpPr>
          <p:cNvPr id="17" name="Text 15"/>
          <p:cNvSpPr/>
          <p:nvPr/>
        </p:nvSpPr>
        <p:spPr>
          <a:xfrm>
            <a:off x="619125" y="1600944"/>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Automatic Generation</a:t>
            </a:r>
            <a:endParaRPr lang="en-US" sz="900" dirty="0"/>
          </a:p>
        </p:txBody>
      </p:sp>
      <p:sp>
        <p:nvSpPr>
          <p:cNvPr id="18" name="Text 16"/>
          <p:cNvSpPr/>
          <p:nvPr/>
        </p:nvSpPr>
        <p:spPr>
          <a:xfrm>
            <a:off x="2573238" y="1600944"/>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19" name="Text 17"/>
          <p:cNvSpPr/>
          <p:nvPr/>
        </p:nvSpPr>
        <p:spPr>
          <a:xfrm>
            <a:off x="4120232" y="1600944"/>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0" name="Text 18"/>
          <p:cNvSpPr/>
          <p:nvPr/>
        </p:nvSpPr>
        <p:spPr>
          <a:xfrm>
            <a:off x="6400056" y="1600944"/>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Limited/No</a:t>
            </a:r>
            <a:endParaRPr lang="en-US" sz="900" dirty="0"/>
          </a:p>
        </p:txBody>
      </p:sp>
      <p:sp>
        <p:nvSpPr>
          <p:cNvPr id="21" name="Text 19"/>
          <p:cNvSpPr/>
          <p:nvPr/>
        </p:nvSpPr>
        <p:spPr>
          <a:xfrm>
            <a:off x="619125" y="1935063"/>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NLP Processing</a:t>
            </a:r>
            <a:endParaRPr lang="en-US" sz="900" dirty="0"/>
          </a:p>
        </p:txBody>
      </p:sp>
      <p:sp>
        <p:nvSpPr>
          <p:cNvPr id="22" name="Text 20"/>
          <p:cNvSpPr/>
          <p:nvPr/>
        </p:nvSpPr>
        <p:spPr>
          <a:xfrm>
            <a:off x="2573238" y="1935063"/>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3" name="Text 21"/>
          <p:cNvSpPr/>
          <p:nvPr/>
        </p:nvSpPr>
        <p:spPr>
          <a:xfrm>
            <a:off x="4120232" y="1935063"/>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4" name="Text 22"/>
          <p:cNvSpPr/>
          <p:nvPr/>
        </p:nvSpPr>
        <p:spPr>
          <a:xfrm>
            <a:off x="6400056" y="1935063"/>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25" name="Text 23"/>
          <p:cNvSpPr/>
          <p:nvPr/>
        </p:nvSpPr>
        <p:spPr>
          <a:xfrm>
            <a:off x="619125" y="2269182"/>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Context Understanding</a:t>
            </a:r>
            <a:endParaRPr lang="en-US" sz="900" dirty="0"/>
          </a:p>
        </p:txBody>
      </p:sp>
      <p:sp>
        <p:nvSpPr>
          <p:cNvPr id="26" name="Text 24"/>
          <p:cNvSpPr/>
          <p:nvPr/>
        </p:nvSpPr>
        <p:spPr>
          <a:xfrm>
            <a:off x="2573238" y="2269182"/>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Medium</a:t>
            </a:r>
            <a:endParaRPr lang="en-US" sz="900" dirty="0"/>
          </a:p>
        </p:txBody>
      </p:sp>
      <p:sp>
        <p:nvSpPr>
          <p:cNvPr id="27" name="Text 25"/>
          <p:cNvSpPr/>
          <p:nvPr/>
        </p:nvSpPr>
        <p:spPr>
          <a:xfrm>
            <a:off x="4120232" y="2269182"/>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High</a:t>
            </a:r>
            <a:endParaRPr lang="en-US" sz="900" dirty="0"/>
          </a:p>
        </p:txBody>
      </p:sp>
      <p:sp>
        <p:nvSpPr>
          <p:cNvPr id="28" name="Text 26"/>
          <p:cNvSpPr/>
          <p:nvPr/>
        </p:nvSpPr>
        <p:spPr>
          <a:xfrm>
            <a:off x="6400056" y="2269182"/>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a:t>
            </a:r>
            <a:endParaRPr lang="en-US" sz="900" dirty="0"/>
          </a:p>
        </p:txBody>
      </p:sp>
      <p:sp>
        <p:nvSpPr>
          <p:cNvPr id="29" name="Text 27"/>
          <p:cNvSpPr/>
          <p:nvPr/>
        </p:nvSpPr>
        <p:spPr>
          <a:xfrm>
            <a:off x="619125" y="2603302"/>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Topic Classification</a:t>
            </a:r>
            <a:endParaRPr lang="en-US" sz="900" dirty="0"/>
          </a:p>
        </p:txBody>
      </p:sp>
      <p:sp>
        <p:nvSpPr>
          <p:cNvPr id="30" name="Text 28"/>
          <p:cNvSpPr/>
          <p:nvPr/>
        </p:nvSpPr>
        <p:spPr>
          <a:xfrm>
            <a:off x="2573238" y="2603302"/>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31" name="Text 29"/>
          <p:cNvSpPr/>
          <p:nvPr/>
        </p:nvSpPr>
        <p:spPr>
          <a:xfrm>
            <a:off x="4120232" y="2603302"/>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Possible</a:t>
            </a:r>
            <a:endParaRPr lang="en-US" sz="900" dirty="0"/>
          </a:p>
        </p:txBody>
      </p:sp>
      <p:sp>
        <p:nvSpPr>
          <p:cNvPr id="32" name="Text 30"/>
          <p:cNvSpPr/>
          <p:nvPr/>
        </p:nvSpPr>
        <p:spPr>
          <a:xfrm>
            <a:off x="6400056" y="2603302"/>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Usually Manual</a:t>
            </a:r>
            <a:endParaRPr lang="en-US" sz="900" dirty="0"/>
          </a:p>
        </p:txBody>
      </p:sp>
      <p:sp>
        <p:nvSpPr>
          <p:cNvPr id="33" name="Text 31"/>
          <p:cNvSpPr/>
          <p:nvPr/>
        </p:nvSpPr>
        <p:spPr>
          <a:xfrm>
            <a:off x="619125" y="2937421"/>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Difficulty Estimation</a:t>
            </a:r>
            <a:endParaRPr lang="en-US" sz="900" dirty="0"/>
          </a:p>
        </p:txBody>
      </p:sp>
      <p:sp>
        <p:nvSpPr>
          <p:cNvPr id="34" name="Text 32"/>
          <p:cNvSpPr/>
          <p:nvPr/>
        </p:nvSpPr>
        <p:spPr>
          <a:xfrm>
            <a:off x="2573238" y="2937421"/>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35" name="Text 33"/>
          <p:cNvSpPr/>
          <p:nvPr/>
        </p:nvSpPr>
        <p:spPr>
          <a:xfrm>
            <a:off x="4120232" y="2937421"/>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Possible</a:t>
            </a:r>
            <a:endParaRPr lang="en-US" sz="900" dirty="0"/>
          </a:p>
        </p:txBody>
      </p:sp>
      <p:sp>
        <p:nvSpPr>
          <p:cNvPr id="36" name="Text 34"/>
          <p:cNvSpPr/>
          <p:nvPr/>
        </p:nvSpPr>
        <p:spPr>
          <a:xfrm>
            <a:off x="6400056" y="2937421"/>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Usually Manual</a:t>
            </a:r>
            <a:endParaRPr lang="en-US" sz="900" dirty="0"/>
          </a:p>
        </p:txBody>
      </p:sp>
      <p:sp>
        <p:nvSpPr>
          <p:cNvPr id="37" name="Text 35"/>
          <p:cNvSpPr/>
          <p:nvPr/>
        </p:nvSpPr>
        <p:spPr>
          <a:xfrm>
            <a:off x="619125" y="3271540"/>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Question Storage</a:t>
            </a:r>
            <a:endParaRPr lang="en-US" sz="900" dirty="0"/>
          </a:p>
        </p:txBody>
      </p:sp>
      <p:sp>
        <p:nvSpPr>
          <p:cNvPr id="38" name="Text 36"/>
          <p:cNvSpPr/>
          <p:nvPr/>
        </p:nvSpPr>
        <p:spPr>
          <a:xfrm>
            <a:off x="2573238" y="3271540"/>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Basic</a:t>
            </a:r>
            <a:endParaRPr lang="en-US" sz="900" dirty="0"/>
          </a:p>
        </p:txBody>
      </p:sp>
      <p:sp>
        <p:nvSpPr>
          <p:cNvPr id="39" name="Text 37"/>
          <p:cNvSpPr/>
          <p:nvPr/>
        </p:nvSpPr>
        <p:spPr>
          <a:xfrm>
            <a:off x="4120232" y="3271540"/>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Depends</a:t>
            </a:r>
            <a:endParaRPr lang="en-US" sz="900" dirty="0"/>
          </a:p>
        </p:txBody>
      </p:sp>
      <p:sp>
        <p:nvSpPr>
          <p:cNvPr id="40" name="Text 38"/>
          <p:cNvSpPr/>
          <p:nvPr/>
        </p:nvSpPr>
        <p:spPr>
          <a:xfrm>
            <a:off x="6400056" y="3271540"/>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41" name="Text 39"/>
          <p:cNvSpPr/>
          <p:nvPr/>
        </p:nvSpPr>
        <p:spPr>
          <a:xfrm>
            <a:off x="619125" y="3605659"/>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Search &amp; Filter</a:t>
            </a:r>
            <a:endParaRPr lang="en-US" sz="900" dirty="0"/>
          </a:p>
        </p:txBody>
      </p:sp>
      <p:sp>
        <p:nvSpPr>
          <p:cNvPr id="42" name="Text 40"/>
          <p:cNvSpPr/>
          <p:nvPr/>
        </p:nvSpPr>
        <p:spPr>
          <a:xfrm>
            <a:off x="2573238" y="3605659"/>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43" name="Text 41"/>
          <p:cNvSpPr/>
          <p:nvPr/>
        </p:nvSpPr>
        <p:spPr>
          <a:xfrm>
            <a:off x="4120232" y="3605659"/>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Depends</a:t>
            </a:r>
            <a:endParaRPr lang="en-US" sz="900" dirty="0"/>
          </a:p>
        </p:txBody>
      </p:sp>
      <p:sp>
        <p:nvSpPr>
          <p:cNvPr id="44" name="Text 42"/>
          <p:cNvSpPr/>
          <p:nvPr/>
        </p:nvSpPr>
        <p:spPr>
          <a:xfrm>
            <a:off x="6400056" y="3605659"/>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45" name="Text 43"/>
          <p:cNvSpPr/>
          <p:nvPr/>
        </p:nvSpPr>
        <p:spPr>
          <a:xfrm>
            <a:off x="619125" y="3939778"/>
            <a:ext cx="217497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Computational Cost</a:t>
            </a:r>
            <a:endParaRPr lang="en-US" sz="900" dirty="0"/>
          </a:p>
        </p:txBody>
      </p:sp>
      <p:sp>
        <p:nvSpPr>
          <p:cNvPr id="46" name="Text 44"/>
          <p:cNvSpPr/>
          <p:nvPr/>
        </p:nvSpPr>
        <p:spPr>
          <a:xfrm>
            <a:off x="2573238" y="3939778"/>
            <a:ext cx="176785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Low/Medium</a:t>
            </a:r>
            <a:endParaRPr lang="en-US" sz="900" dirty="0"/>
          </a:p>
        </p:txBody>
      </p:sp>
      <p:sp>
        <p:nvSpPr>
          <p:cNvPr id="47" name="Text 45"/>
          <p:cNvSpPr/>
          <p:nvPr/>
        </p:nvSpPr>
        <p:spPr>
          <a:xfrm>
            <a:off x="4120232" y="3939778"/>
            <a:ext cx="2500685"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High</a:t>
            </a:r>
            <a:endParaRPr lang="en-US" sz="900" dirty="0"/>
          </a:p>
        </p:txBody>
      </p:sp>
      <p:sp>
        <p:nvSpPr>
          <p:cNvPr id="48" name="Text 46"/>
          <p:cNvSpPr/>
          <p:nvPr/>
        </p:nvSpPr>
        <p:spPr>
          <a:xfrm>
            <a:off x="6400056" y="3939778"/>
            <a:ext cx="2582094" cy="184696"/>
          </a:xfrm>
          <a:prstGeom prst="rect">
            <a:avLst/>
          </a:prstGeom>
          <a:noFill/>
          <a:ln/>
        </p:spPr>
        <p:txBody>
          <a:bodyPr wrap="none" lIns="0" tIns="0" rIns="0" bIns="0" rtlCol="0" anchor="t"/>
          <a:lstStyle/>
          <a:p>
            <a:pPr marL="0" indent="0" algn="l">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a:t>
            </a:r>
            <a:endParaRPr lang="en-US" sz="900" dirty="0"/>
          </a:p>
        </p:txBody>
      </p:sp>
      <p:sp>
        <p:nvSpPr>
          <p:cNvPr id="49" name="Shape 47"/>
          <p:cNvSpPr/>
          <p:nvPr/>
        </p:nvSpPr>
        <p:spPr>
          <a:xfrm>
            <a:off x="496119" y="4328294"/>
            <a:ext cx="8151763" cy="457795"/>
          </a:xfrm>
          <a:prstGeom prst="roundRect">
            <a:avLst>
              <a:gd name="adj" fmla="val 3874"/>
            </a:avLst>
          </a:prstGeom>
          <a:solidFill>
            <a:srgbClr val="DBE8F0"/>
          </a:solidFill>
          <a:ln/>
        </p:spPr>
      </p:sp>
      <p:pic>
        <p:nvPicPr>
          <p:cNvPr id="50" name="Image 0" descr="preencoded.png"/>
          <p:cNvPicPr>
            <a:picLocks noChangeAspect="1"/>
          </p:cNvPicPr>
          <p:nvPr/>
        </p:nvPicPr>
        <p:blipFill>
          <a:blip r:embed="rId3"/>
          <a:stretch>
            <a:fillRect/>
          </a:stretch>
        </p:blipFill>
        <p:spPr>
          <a:xfrm>
            <a:off x="614288" y="4490889"/>
            <a:ext cx="147786" cy="118170"/>
          </a:xfrm>
          <a:prstGeom prst="rect">
            <a:avLst/>
          </a:prstGeom>
        </p:spPr>
      </p:pic>
      <p:sp>
        <p:nvSpPr>
          <p:cNvPr id="51" name="Text 48"/>
          <p:cNvSpPr/>
          <p:nvPr/>
        </p:nvSpPr>
        <p:spPr>
          <a:xfrm>
            <a:off x="880244" y="4470499"/>
            <a:ext cx="8106668" cy="184696"/>
          </a:xfrm>
          <a:prstGeom prst="rect">
            <a:avLst/>
          </a:prstGeom>
          <a:noFill/>
          <a:ln/>
        </p:spPr>
        <p:txBody>
          <a:bodyPr wrap="none" lIns="0" tIns="0" rIns="0" bIns="0" rtlCol="0" anchor="t"/>
          <a:lstStyle/>
          <a:p>
            <a:pPr marL="0" indent="0" algn="l">
              <a:lnSpc>
                <a:spcPct val="130000"/>
              </a:lnSpc>
              <a:buNone/>
            </a:pPr>
            <a:r>
              <a:rPr lang="en-US" sz="900" dirty="0">
                <a:solidFill>
                  <a:srgbClr val="000000"/>
                </a:solidFill>
                <a:latin typeface="Source Sans 3" pitchFamily="34" charset="0"/>
                <a:ea typeface="Source Sans 3" pitchFamily="34" charset="-122"/>
                <a:cs typeface="Source Sans 3" pitchFamily="34" charset="-120"/>
              </a:rPr>
              <a:t> Main observation: a unified system combining generation, classification, difficulty estimation, storage, and export remains an open need.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1114"/>
            <a:ext cx="8151763" cy="155004"/>
          </a:xfrm>
          <a:prstGeom prst="rect">
            <a:avLst/>
          </a:prstGeom>
          <a:noFill/>
          <a:ln/>
        </p:spPr>
        <p:txBody>
          <a:bodyPr wrap="none" lIns="0" tIns="0" rIns="0" bIns="0" rtlCol="0" anchor="t"/>
          <a:lstStyle/>
          <a:p>
            <a:pPr marL="0" indent="0" algn="l">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Gap Analysis — What’s Missing</a:t>
            </a:r>
            <a:endParaRPr lang="en-US" sz="950" dirty="0"/>
          </a:p>
        </p:txBody>
      </p:sp>
      <p:sp>
        <p:nvSpPr>
          <p:cNvPr id="3" name="Text 1"/>
          <p:cNvSpPr/>
          <p:nvPr/>
        </p:nvSpPr>
        <p:spPr>
          <a:xfrm>
            <a:off x="496119" y="570533"/>
            <a:ext cx="4457477" cy="74340"/>
          </a:xfrm>
          <a:prstGeom prst="rect">
            <a:avLst/>
          </a:prstGeom>
          <a:noFill/>
          <a:ln/>
        </p:spPr>
        <p:txBody>
          <a:bodyPr wrap="none" lIns="0" tIns="0" rIns="0" bIns="0" rtlCol="0" anchor="t"/>
          <a:lstStyle/>
          <a:p>
            <a:pPr marL="0" indent="0" algn="l">
              <a:lnSpc>
                <a:spcPct val="100000"/>
              </a:lnSpc>
              <a:buNone/>
            </a:pPr>
            <a:r>
              <a:rPr lang="en-US" sz="450" dirty="0">
                <a:solidFill>
                  <a:srgbClr val="2B4150"/>
                </a:solidFill>
                <a:latin typeface="Source Sans 3" pitchFamily="34" charset="0"/>
                <a:ea typeface="Source Sans 3" pitchFamily="34" charset="-122"/>
                <a:cs typeface="Source Sans 3" pitchFamily="34" charset="-120"/>
              </a:rPr>
              <a:t>         Key gaps identified from literature and existing platforms:       </a:t>
            </a:r>
            <a:endParaRPr lang="en-US" sz="450" dirty="0"/>
          </a:p>
        </p:txBody>
      </p:sp>
      <p:sp>
        <p:nvSpPr>
          <p:cNvPr id="4" name="Text 2"/>
          <p:cNvSpPr/>
          <p:nvPr/>
        </p:nvSpPr>
        <p:spPr>
          <a:xfrm>
            <a:off x="496119" y="672778"/>
            <a:ext cx="4000277" cy="414858"/>
          </a:xfrm>
          <a:prstGeom prst="rect">
            <a:avLst/>
          </a:prstGeom>
          <a:noFill/>
          <a:ln/>
        </p:spPr>
        <p:txBody>
          <a:bodyPr wrap="square" lIns="0" tIns="24809" rIns="0" bIns="0" rtlCol="0" anchor="t">
            <a:normAutofit/>
          </a:bodyPr>
          <a:lstStyle/>
          <a:p>
            <a:pPr marL="91440" indent="-91440" algn="l">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Automatic topic-wise organization is often absent.</a:t>
            </a:r>
            <a:endParaRPr lang="en-US" sz="450" dirty="0"/>
          </a:p>
          <a:p>
            <a:pPr marL="91440" indent="-91440" algn="l">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Difficulty estimation and quality scoring are limited.</a:t>
            </a:r>
            <a:endParaRPr lang="en-US" sz="450" dirty="0"/>
          </a:p>
          <a:p>
            <a:pPr marL="91440" indent="-91440" algn="l">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Duplicate or low-quality questions are generated without filtering.</a:t>
            </a:r>
            <a:endParaRPr lang="en-US" sz="450" dirty="0"/>
          </a:p>
          <a:p>
            <a:pPr marL="91440" indent="-91440" algn="l">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High computational needs for advanced AI solutions.</a:t>
            </a:r>
            <a:endParaRPr lang="en-US" sz="450" dirty="0"/>
          </a:p>
          <a:p>
            <a:pPr marL="91440" indent="-91440" algn="l">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Search/export UX for teachers can be improved.</a:t>
            </a:r>
            <a:endParaRPr lang="en-US" sz="450" dirty="0"/>
          </a:p>
        </p:txBody>
      </p:sp>
      <p:pic>
        <p:nvPicPr>
          <p:cNvPr id="5" name="Image 0" descr="preencoded.png"/>
          <p:cNvPicPr>
            <a:picLocks noChangeAspect="1"/>
          </p:cNvPicPr>
          <p:nvPr/>
        </p:nvPicPr>
        <p:blipFill>
          <a:blip r:embed="rId3"/>
          <a:stretch>
            <a:fillRect/>
          </a:stretch>
        </p:blipFill>
        <p:spPr>
          <a:xfrm>
            <a:off x="4652367" y="577453"/>
            <a:ext cx="3969469" cy="3969469"/>
          </a:xfrm>
          <a:prstGeom prst="rect">
            <a:avLst/>
          </a:prstGeom>
        </p:spPr>
      </p:pic>
      <p:sp>
        <p:nvSpPr>
          <p:cNvPr id="6" name="Text 3"/>
          <p:cNvSpPr/>
          <p:nvPr/>
        </p:nvSpPr>
        <p:spPr>
          <a:xfrm>
            <a:off x="496119" y="4628257"/>
            <a:ext cx="8151763" cy="96887"/>
          </a:xfrm>
          <a:prstGeom prst="rect">
            <a:avLst/>
          </a:prstGeom>
          <a:noFill/>
          <a:ln/>
        </p:spPr>
        <p:txBody>
          <a:bodyPr wrap="none" lIns="0" tIns="0" rIns="0" bIns="0" rtlCol="0" anchor="t"/>
          <a:lstStyle/>
          <a:p>
            <a:pPr marL="0" indent="0" algn="l">
              <a:lnSpc>
                <a:spcPct val="104000"/>
              </a:lnSpc>
              <a:buNone/>
            </a:pPr>
            <a:r>
              <a:rPr lang="en-US" sz="600" dirty="0">
                <a:solidFill>
                  <a:srgbClr val="124E73"/>
                </a:solidFill>
                <a:latin typeface="MuseoModerno Medium" pitchFamily="34" charset="0"/>
                <a:ea typeface="MuseoModerno Medium" pitchFamily="34" charset="-122"/>
                <a:cs typeface="MuseoModerno Medium" pitchFamily="34" charset="-120"/>
              </a:rPr>
              <a:t>Proposed Gap Solution (Main Contribution)</a:t>
            </a:r>
            <a:endParaRPr lang="en-US" sz="600" dirty="0"/>
          </a:p>
        </p:txBody>
      </p:sp>
      <p:sp>
        <p:nvSpPr>
          <p:cNvPr id="7" name="Text 4"/>
          <p:cNvSpPr/>
          <p:nvPr/>
        </p:nvSpPr>
        <p:spPr>
          <a:xfrm>
            <a:off x="496119" y="4771653"/>
            <a:ext cx="8608963" cy="74340"/>
          </a:xfrm>
          <a:prstGeom prst="rect">
            <a:avLst/>
          </a:prstGeom>
          <a:noFill/>
          <a:ln/>
        </p:spPr>
        <p:txBody>
          <a:bodyPr wrap="none" lIns="0" tIns="0" rIns="0" bIns="0" rtlCol="0" anchor="t"/>
          <a:lstStyle/>
          <a:p>
            <a:pPr marL="0" indent="0" algn="l">
              <a:lnSpc>
                <a:spcPct val="100000"/>
              </a:lnSpc>
              <a:buNone/>
            </a:pPr>
            <a:r>
              <a:rPr lang="en-US" sz="450" dirty="0">
                <a:solidFill>
                  <a:srgbClr val="2B4150"/>
                </a:solidFill>
                <a:latin typeface="Source Sans 3" pitchFamily="34" charset="0"/>
                <a:ea typeface="Source Sans 3" pitchFamily="34" charset="-122"/>
                <a:cs typeface="Source Sans 3" pitchFamily="34" charset="-120"/>
              </a:rPr>
              <a:t> Textbook/PDF → Text Processing → Keyword Extraction → Topic Classification → Question Generation → Difficulty Estimation → Database → Search/Filter/Export.</a:t>
            </a:r>
            <a:endParaRPr lang="en-US" sz="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74700"/>
            <a:ext cx="8151763" cy="310083"/>
          </a:xfrm>
          <a:prstGeom prst="rect">
            <a:avLst/>
          </a:prstGeom>
          <a:noFill/>
          <a:ln/>
        </p:spPr>
        <p:txBody>
          <a:bodyPr wrap="none" lIns="0" tIns="0" rIns="0" bIns="0" rtlCol="0" anchor="t"/>
          <a:lstStyle/>
          <a:p>
            <a:pPr marL="0" indent="0" algn="l">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Proposed System &amp; Methodology</a:t>
            </a:r>
            <a:endParaRPr lang="en-US" sz="1950" dirty="0"/>
          </a:p>
        </p:txBody>
      </p:sp>
      <p:sp>
        <p:nvSpPr>
          <p:cNvPr id="3" name="Text 1"/>
          <p:cNvSpPr/>
          <p:nvPr/>
        </p:nvSpPr>
        <p:spPr>
          <a:xfrm>
            <a:off x="496119" y="1132805"/>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The system ingests textbooks and PDFs, extracts and preprocesses text, classifies content by topic, generates question candidates, estimates difficulty, and stores structured questions with metadata in SQLite for retrieval and export.   </a:t>
            </a:r>
            <a:endParaRPr lang="en-US" sz="950" dirty="0"/>
          </a:p>
        </p:txBody>
      </p:sp>
      <p:pic>
        <p:nvPicPr>
          <p:cNvPr id="4" name="Image 0" descr="preencoded.png"/>
          <p:cNvPicPr>
            <a:picLocks noChangeAspect="1"/>
          </p:cNvPicPr>
          <p:nvPr/>
        </p:nvPicPr>
        <p:blipFill>
          <a:blip r:embed="rId3"/>
          <a:stretch>
            <a:fillRect/>
          </a:stretch>
        </p:blipFill>
        <p:spPr>
          <a:xfrm>
            <a:off x="496119" y="1669256"/>
            <a:ext cx="557213" cy="696516"/>
          </a:xfrm>
          <a:prstGeom prst="rect">
            <a:avLst/>
          </a:prstGeom>
        </p:spPr>
      </p:pic>
      <p:sp>
        <p:nvSpPr>
          <p:cNvPr id="5" name="Text 2"/>
          <p:cNvSpPr/>
          <p:nvPr/>
        </p:nvSpPr>
        <p:spPr>
          <a:xfrm>
            <a:off x="1208336" y="1669256"/>
            <a:ext cx="1209452" cy="193849"/>
          </a:xfrm>
          <a:prstGeom prst="rect">
            <a:avLst/>
          </a:prstGeom>
          <a:noFill/>
          <a:ln/>
        </p:spPr>
        <p:txBody>
          <a:bodyPr wrap="none" lIns="0" tIns="0" rIns="0" bIns="0" rtlCol="0" anchor="t"/>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1. Upload</a:t>
            </a:r>
            <a:endParaRPr lang="en-US" sz="1200" dirty="0"/>
          </a:p>
        </p:txBody>
      </p:sp>
      <p:sp>
        <p:nvSpPr>
          <p:cNvPr id="6" name="Text 3"/>
          <p:cNvSpPr/>
          <p:nvPr/>
        </p:nvSpPr>
        <p:spPr>
          <a:xfrm>
            <a:off x="1208336" y="1937519"/>
            <a:ext cx="120945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Upload textbook or PDF as input document.</a:t>
            </a:r>
            <a:endParaRPr lang="en-US" sz="950" dirty="0"/>
          </a:p>
        </p:txBody>
      </p:sp>
      <p:pic>
        <p:nvPicPr>
          <p:cNvPr id="7" name="Image 1" descr="preencoded.png"/>
          <p:cNvPicPr>
            <a:picLocks noChangeAspect="1"/>
          </p:cNvPicPr>
          <p:nvPr/>
        </p:nvPicPr>
        <p:blipFill>
          <a:blip r:embed="rId4"/>
          <a:stretch>
            <a:fillRect/>
          </a:stretch>
        </p:blipFill>
        <p:spPr>
          <a:xfrm>
            <a:off x="2572792" y="1669256"/>
            <a:ext cx="557213" cy="696516"/>
          </a:xfrm>
          <a:prstGeom prst="rect">
            <a:avLst/>
          </a:prstGeom>
        </p:spPr>
      </p:pic>
      <p:sp>
        <p:nvSpPr>
          <p:cNvPr id="8" name="Text 4"/>
          <p:cNvSpPr/>
          <p:nvPr/>
        </p:nvSpPr>
        <p:spPr>
          <a:xfrm>
            <a:off x="3285009" y="1669256"/>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2. Text Processing</a:t>
            </a:r>
            <a:endParaRPr lang="en-US" sz="1200" dirty="0"/>
          </a:p>
        </p:txBody>
      </p:sp>
      <p:sp>
        <p:nvSpPr>
          <p:cNvPr id="9" name="Text 5"/>
          <p:cNvSpPr/>
          <p:nvPr/>
        </p:nvSpPr>
        <p:spPr>
          <a:xfrm>
            <a:off x="3285009" y="2131368"/>
            <a:ext cx="120945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OCR (if needed), cleaning, sentence segmentation.</a:t>
            </a:r>
            <a:endParaRPr lang="en-US" sz="950" dirty="0"/>
          </a:p>
        </p:txBody>
      </p:sp>
      <p:pic>
        <p:nvPicPr>
          <p:cNvPr id="10" name="Image 2" descr="preencoded.png"/>
          <p:cNvPicPr>
            <a:picLocks noChangeAspect="1"/>
          </p:cNvPicPr>
          <p:nvPr/>
        </p:nvPicPr>
        <p:blipFill>
          <a:blip r:embed="rId5"/>
          <a:stretch>
            <a:fillRect/>
          </a:stretch>
        </p:blipFill>
        <p:spPr>
          <a:xfrm>
            <a:off x="4649465" y="1669256"/>
            <a:ext cx="557213" cy="696516"/>
          </a:xfrm>
          <a:prstGeom prst="rect">
            <a:avLst/>
          </a:prstGeom>
        </p:spPr>
      </p:pic>
      <p:sp>
        <p:nvSpPr>
          <p:cNvPr id="11" name="Text 6"/>
          <p:cNvSpPr/>
          <p:nvPr/>
        </p:nvSpPr>
        <p:spPr>
          <a:xfrm>
            <a:off x="5361682" y="1669256"/>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3. Keyword Extraction</a:t>
            </a:r>
            <a:endParaRPr lang="en-US" sz="1200" dirty="0"/>
          </a:p>
        </p:txBody>
      </p:sp>
      <p:sp>
        <p:nvSpPr>
          <p:cNvPr id="12" name="Text 7"/>
          <p:cNvSpPr/>
          <p:nvPr/>
        </p:nvSpPr>
        <p:spPr>
          <a:xfrm>
            <a:off x="5361682" y="2131368"/>
            <a:ext cx="120945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spaCy/NLTK extract key phrases and concepts.</a:t>
            </a:r>
            <a:endParaRPr lang="en-US" sz="950" dirty="0"/>
          </a:p>
        </p:txBody>
      </p:sp>
      <p:pic>
        <p:nvPicPr>
          <p:cNvPr id="13" name="Image 3" descr="preencoded.png"/>
          <p:cNvPicPr>
            <a:picLocks noChangeAspect="1"/>
          </p:cNvPicPr>
          <p:nvPr/>
        </p:nvPicPr>
        <p:blipFill>
          <a:blip r:embed="rId6"/>
          <a:stretch>
            <a:fillRect/>
          </a:stretch>
        </p:blipFill>
        <p:spPr>
          <a:xfrm>
            <a:off x="6726138" y="1669256"/>
            <a:ext cx="557287" cy="696590"/>
          </a:xfrm>
          <a:prstGeom prst="rect">
            <a:avLst/>
          </a:prstGeom>
        </p:spPr>
      </p:pic>
      <p:sp>
        <p:nvSpPr>
          <p:cNvPr id="14" name="Text 8"/>
          <p:cNvSpPr/>
          <p:nvPr/>
        </p:nvSpPr>
        <p:spPr>
          <a:xfrm>
            <a:off x="7438430" y="1669256"/>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4. Topic Classification</a:t>
            </a:r>
            <a:endParaRPr lang="en-US" sz="1200" dirty="0"/>
          </a:p>
        </p:txBody>
      </p:sp>
      <p:sp>
        <p:nvSpPr>
          <p:cNvPr id="15" name="Text 9"/>
          <p:cNvSpPr/>
          <p:nvPr/>
        </p:nvSpPr>
        <p:spPr>
          <a:xfrm>
            <a:off x="7438430" y="2131368"/>
            <a:ext cx="120945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Map sentences to course topics using trained classifiers.</a:t>
            </a:r>
            <a:endParaRPr lang="en-US" sz="950" dirty="0"/>
          </a:p>
        </p:txBody>
      </p:sp>
      <p:pic>
        <p:nvPicPr>
          <p:cNvPr id="16" name="Image 4" descr="preencoded.png"/>
          <p:cNvPicPr>
            <a:picLocks noChangeAspect="1"/>
          </p:cNvPicPr>
          <p:nvPr/>
        </p:nvPicPr>
        <p:blipFill>
          <a:blip r:embed="rId7"/>
          <a:stretch>
            <a:fillRect/>
          </a:stretch>
        </p:blipFill>
        <p:spPr>
          <a:xfrm>
            <a:off x="496119" y="2974777"/>
            <a:ext cx="557213" cy="696516"/>
          </a:xfrm>
          <a:prstGeom prst="rect">
            <a:avLst/>
          </a:prstGeom>
        </p:spPr>
      </p:pic>
      <p:sp>
        <p:nvSpPr>
          <p:cNvPr id="17" name="Text 10"/>
          <p:cNvSpPr/>
          <p:nvPr/>
        </p:nvSpPr>
        <p:spPr>
          <a:xfrm>
            <a:off x="1208336" y="2974777"/>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5. Question Generation</a:t>
            </a:r>
            <a:endParaRPr lang="en-US" sz="1200" dirty="0"/>
          </a:p>
        </p:txBody>
      </p:sp>
      <p:sp>
        <p:nvSpPr>
          <p:cNvPr id="18" name="Text 11"/>
          <p:cNvSpPr/>
          <p:nvPr/>
        </p:nvSpPr>
        <p:spPr>
          <a:xfrm>
            <a:off x="1208336" y="3436888"/>
            <a:ext cx="120945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Template + Transformer hybrid generates question candidates.</a:t>
            </a:r>
            <a:endParaRPr lang="en-US" sz="950" dirty="0"/>
          </a:p>
        </p:txBody>
      </p:sp>
      <p:pic>
        <p:nvPicPr>
          <p:cNvPr id="19" name="Image 5" descr="preencoded.png"/>
          <p:cNvPicPr>
            <a:picLocks noChangeAspect="1"/>
          </p:cNvPicPr>
          <p:nvPr/>
        </p:nvPicPr>
        <p:blipFill>
          <a:blip r:embed="rId8"/>
          <a:stretch>
            <a:fillRect/>
          </a:stretch>
        </p:blipFill>
        <p:spPr>
          <a:xfrm>
            <a:off x="2572792" y="2974777"/>
            <a:ext cx="557213" cy="696516"/>
          </a:xfrm>
          <a:prstGeom prst="rect">
            <a:avLst/>
          </a:prstGeom>
        </p:spPr>
      </p:pic>
      <p:sp>
        <p:nvSpPr>
          <p:cNvPr id="20" name="Text 12"/>
          <p:cNvSpPr/>
          <p:nvPr/>
        </p:nvSpPr>
        <p:spPr>
          <a:xfrm>
            <a:off x="3285009" y="2974777"/>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6. Difficulty Estimation</a:t>
            </a:r>
            <a:endParaRPr lang="en-US" sz="1200" dirty="0"/>
          </a:p>
        </p:txBody>
      </p:sp>
      <p:sp>
        <p:nvSpPr>
          <p:cNvPr id="21" name="Text 13"/>
          <p:cNvSpPr/>
          <p:nvPr/>
        </p:nvSpPr>
        <p:spPr>
          <a:xfrm>
            <a:off x="3285009" y="3436888"/>
            <a:ext cx="120945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Heuristic and ML-based scoring to tag difficulty levels.</a:t>
            </a:r>
            <a:endParaRPr lang="en-US" sz="950" dirty="0"/>
          </a:p>
        </p:txBody>
      </p:sp>
      <p:pic>
        <p:nvPicPr>
          <p:cNvPr id="22" name="Image 6" descr="preencoded.png"/>
          <p:cNvPicPr>
            <a:picLocks noChangeAspect="1"/>
          </p:cNvPicPr>
          <p:nvPr/>
        </p:nvPicPr>
        <p:blipFill>
          <a:blip r:embed="rId9"/>
          <a:stretch>
            <a:fillRect/>
          </a:stretch>
        </p:blipFill>
        <p:spPr>
          <a:xfrm>
            <a:off x="4649465" y="2974777"/>
            <a:ext cx="557213" cy="696516"/>
          </a:xfrm>
          <a:prstGeom prst="rect">
            <a:avLst/>
          </a:prstGeom>
        </p:spPr>
      </p:pic>
      <p:sp>
        <p:nvSpPr>
          <p:cNvPr id="23" name="Text 14"/>
          <p:cNvSpPr/>
          <p:nvPr/>
        </p:nvSpPr>
        <p:spPr>
          <a:xfrm>
            <a:off x="5361682" y="2974777"/>
            <a:ext cx="1209452"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7. Storage &amp; Export</a:t>
            </a:r>
            <a:endParaRPr lang="en-US" sz="1200" dirty="0"/>
          </a:p>
        </p:txBody>
      </p:sp>
      <p:sp>
        <p:nvSpPr>
          <p:cNvPr id="24" name="Text 15"/>
          <p:cNvSpPr/>
          <p:nvPr/>
        </p:nvSpPr>
        <p:spPr>
          <a:xfrm>
            <a:off x="5361682" y="3436888"/>
            <a:ext cx="1209452"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Store structured questions in SQLite; support search and export (CSV/JSON).</a:t>
            </a:r>
            <a:endParaRPr lang="en-US" sz="950" dirty="0"/>
          </a:p>
        </p:txBody>
      </p:sp>
      <p:sp>
        <p:nvSpPr>
          <p:cNvPr id="25" name="Text 16"/>
          <p:cNvSpPr/>
          <p:nvPr/>
        </p:nvSpPr>
        <p:spPr>
          <a:xfrm>
            <a:off x="496119" y="4370263"/>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Technologies: Python/Java, spaCy, NLTK, SQLite, optional Flask/Django for UI and REST API for integration.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46844"/>
            <a:ext cx="8151763" cy="247129"/>
          </a:xfrm>
          <a:prstGeom prst="rect">
            <a:avLst/>
          </a:prstGeom>
          <a:noFill/>
          <a:ln/>
        </p:spPr>
        <p:txBody>
          <a:bodyPr wrap="none" lIns="0" tIns="0" rIns="0" bIns="0" rtlCol="0" anchor="t"/>
          <a:lstStyle/>
          <a:p>
            <a:pPr marL="0" indent="0" algn="l">
              <a:lnSpc>
                <a:spcPct val="104000"/>
              </a:lnSpc>
              <a:buNone/>
            </a:pPr>
            <a:r>
              <a:rPr lang="en-US" sz="1550" dirty="0">
                <a:solidFill>
                  <a:srgbClr val="124E73"/>
                </a:solidFill>
                <a:latin typeface="MuseoModerno Medium" pitchFamily="34" charset="0"/>
                <a:ea typeface="MuseoModerno Medium" pitchFamily="34" charset="-122"/>
                <a:cs typeface="MuseoModerno Medium" pitchFamily="34" charset="-120"/>
              </a:rPr>
              <a:t>Conclusion &amp; Future Scope</a:t>
            </a:r>
            <a:endParaRPr lang="en-US" sz="1550" dirty="0"/>
          </a:p>
        </p:txBody>
      </p:sp>
      <p:sp>
        <p:nvSpPr>
          <p:cNvPr id="3" name="Text 1"/>
          <p:cNvSpPr/>
          <p:nvPr/>
        </p:nvSpPr>
        <p:spPr>
          <a:xfrm>
            <a:off x="496119" y="782910"/>
            <a:ext cx="5214193"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2B4150"/>
                </a:solidFill>
                <a:latin typeface="Source Sans 3" pitchFamily="34" charset="0"/>
                <a:ea typeface="Source Sans 3" pitchFamily="34" charset="-122"/>
                <a:cs typeface="Source Sans 3" pitchFamily="34" charset="-120"/>
              </a:rPr>
              <a:t>         Conclusion: The proposed system reduces manual effort, extracts useful items from textbooks/PDFs, organizes questions by topic and difficulty, and enables fast retrieval for tests and practice sets.       </a:t>
            </a:r>
            <a:endParaRPr lang="en-US" sz="750" dirty="0"/>
          </a:p>
        </p:txBody>
      </p:sp>
      <p:sp>
        <p:nvSpPr>
          <p:cNvPr id="4" name="Text 2"/>
          <p:cNvSpPr/>
          <p:nvPr/>
        </p:nvSpPr>
        <p:spPr>
          <a:xfrm>
            <a:off x="496119" y="1137865"/>
            <a:ext cx="5214193" cy="481236"/>
          </a:xfrm>
          <a:prstGeom prst="rect">
            <a:avLst/>
          </a:prstGeom>
          <a:noFill/>
          <a:ln/>
        </p:spPr>
        <p:txBody>
          <a:bodyPr wrap="square" lIns="0" tIns="39540" rIns="0" bIns="0" rtlCol="0" anchor="t">
            <a:normAutofit/>
          </a:bodyPr>
          <a:lstStyle/>
          <a:p>
            <a:pPr marL="152400" indent="-152400" algn="l">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Improves teacher efficiency and consistency in assessment content.</a:t>
            </a:r>
            <a:endParaRPr lang="en-US" sz="750" dirty="0"/>
          </a:p>
          <a:p>
            <a:pPr marL="152400" indent="-152400" algn="l">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Provides structured metadata for search, filtering, and export.</a:t>
            </a:r>
            <a:endParaRPr lang="en-US" sz="750" dirty="0"/>
          </a:p>
          <a:p>
            <a:pPr marL="152400" indent="-152400" algn="l">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Hybrid generation (rules + transformers) balances quality and compute cost.</a:t>
            </a:r>
            <a:endParaRPr lang="en-US" sz="750" dirty="0"/>
          </a:p>
        </p:txBody>
      </p:sp>
      <p:pic>
        <p:nvPicPr>
          <p:cNvPr id="5" name="Image 0" descr="preencoded.png"/>
          <p:cNvPicPr>
            <a:picLocks noChangeAspect="1"/>
          </p:cNvPicPr>
          <p:nvPr/>
        </p:nvPicPr>
        <p:blipFill>
          <a:blip r:embed="rId3"/>
          <a:stretch>
            <a:fillRect/>
          </a:stretch>
        </p:blipFill>
        <p:spPr>
          <a:xfrm>
            <a:off x="5956176" y="800621"/>
            <a:ext cx="2696394" cy="2696394"/>
          </a:xfrm>
          <a:prstGeom prst="rect">
            <a:avLst/>
          </a:prstGeom>
        </p:spPr>
      </p:pic>
      <p:sp>
        <p:nvSpPr>
          <p:cNvPr id="6" name="Text 3"/>
          <p:cNvSpPr/>
          <p:nvPr/>
        </p:nvSpPr>
        <p:spPr>
          <a:xfrm>
            <a:off x="496119" y="3703662"/>
            <a:ext cx="8151763" cy="154409"/>
          </a:xfrm>
          <a:prstGeom prst="rect">
            <a:avLst/>
          </a:prstGeom>
          <a:noFill/>
          <a:ln/>
        </p:spPr>
        <p:txBody>
          <a:bodyPr wrap="none" lIns="0" tIns="0" rIns="0" bIns="0" rtlCol="0" anchor="t"/>
          <a:lstStyle/>
          <a:p>
            <a:pPr marL="0" indent="0" algn="l">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Future Scope</a:t>
            </a:r>
            <a:endParaRPr lang="en-US" sz="950" dirty="0"/>
          </a:p>
        </p:txBody>
      </p:sp>
      <p:sp>
        <p:nvSpPr>
          <p:cNvPr id="7" name="Text 4"/>
          <p:cNvSpPr/>
          <p:nvPr/>
        </p:nvSpPr>
        <p:spPr>
          <a:xfrm>
            <a:off x="496119" y="3976167"/>
            <a:ext cx="8151763" cy="820415"/>
          </a:xfrm>
          <a:prstGeom prst="rect">
            <a:avLst/>
          </a:prstGeom>
          <a:noFill/>
          <a:ln/>
        </p:spPr>
        <p:txBody>
          <a:bodyPr wrap="square" lIns="0" tIns="0" rIns="0" bIns="0" rtlCol="0" anchor="t">
            <a:normAutofit/>
          </a:bodyPr>
          <a:lstStyle/>
          <a:p>
            <a:pPr marL="152400" indent="-152400" algn="l">
              <a:lnSpc>
                <a:spcPct val="120000"/>
              </a:lnSpc>
              <a:buSzPct val="100000"/>
              <a:buFont typeface="+mj-lt"/>
              <a:buAutoNum type="arabicPeriod"/>
            </a:pPr>
            <a:r>
              <a:rPr lang="en-US" sz="750" dirty="0">
                <a:solidFill>
                  <a:srgbClr val="2B4150"/>
                </a:solidFill>
                <a:latin typeface="Source Sans 3" pitchFamily="34" charset="0"/>
                <a:ea typeface="Source Sans 3" pitchFamily="34" charset="-122"/>
                <a:cs typeface="Source Sans 3" pitchFamily="34" charset="-120"/>
              </a:rPr>
              <a:t>Integrate transformer-based Q&amp;A generation with quality-ranking models.</a:t>
            </a:r>
            <a:endParaRPr lang="en-US" sz="750" dirty="0"/>
          </a:p>
          <a:p>
            <a:pPr marL="152400" indent="-152400" algn="l">
              <a:lnSpc>
                <a:spcPct val="120000"/>
              </a:lnSpc>
              <a:buSzPct val="100000"/>
              <a:buFont typeface="+mj-lt"/>
              <a:buAutoNum type="arabicPeriod" startAt="2"/>
            </a:pPr>
            <a:r>
              <a:rPr lang="en-US" sz="750" dirty="0">
                <a:solidFill>
                  <a:srgbClr val="2B4150"/>
                </a:solidFill>
                <a:latin typeface="Source Sans 3" pitchFamily="34" charset="0"/>
                <a:ea typeface="Source Sans 3" pitchFamily="34" charset="-122"/>
                <a:cs typeface="Source Sans 3" pitchFamily="34" charset="-120"/>
              </a:rPr>
              <a:t>Multi-language support and OCR improvements.</a:t>
            </a:r>
            <a:endParaRPr lang="en-US" sz="750" dirty="0"/>
          </a:p>
          <a:p>
            <a:pPr marL="152400" indent="-152400" algn="l">
              <a:lnSpc>
                <a:spcPct val="120000"/>
              </a:lnSpc>
              <a:buSzPct val="100000"/>
              <a:buFont typeface="+mj-lt"/>
              <a:buAutoNum type="arabicPeriod" startAt="3"/>
            </a:pPr>
            <a:r>
              <a:rPr lang="en-US" sz="750" dirty="0">
                <a:solidFill>
                  <a:srgbClr val="2B4150"/>
                </a:solidFill>
                <a:latin typeface="Source Sans 3" pitchFamily="34" charset="0"/>
                <a:ea typeface="Source Sans 3" pitchFamily="34" charset="-122"/>
                <a:cs typeface="Source Sans 3" pitchFamily="34" charset="-120"/>
              </a:rPr>
              <a:t>Cloud-based storage and collaborative authoring tools.</a:t>
            </a:r>
            <a:endParaRPr lang="en-US" sz="750" dirty="0"/>
          </a:p>
          <a:p>
            <a:pPr marL="152400" indent="-152400" algn="l">
              <a:lnSpc>
                <a:spcPct val="120000"/>
              </a:lnSpc>
              <a:buSzPct val="100000"/>
              <a:buFont typeface="+mj-lt"/>
              <a:buAutoNum type="arabicPeriod" startAt="4"/>
            </a:pPr>
            <a:r>
              <a:rPr lang="en-US" sz="750" dirty="0">
                <a:solidFill>
                  <a:srgbClr val="2B4150"/>
                </a:solidFill>
                <a:latin typeface="Source Sans 3" pitchFamily="34" charset="0"/>
                <a:ea typeface="Source Sans 3" pitchFamily="34" charset="-122"/>
                <a:cs typeface="Source Sans 3" pitchFamily="34" charset="-120"/>
              </a:rPr>
              <a:t>ML models for automated difficulty and quality prediction.</a:t>
            </a:r>
            <a:endParaRPr lang="en-US" sz="750" dirty="0"/>
          </a:p>
          <a:p>
            <a:pPr marL="152400" indent="-152400" algn="l">
              <a:lnSpc>
                <a:spcPct val="120000"/>
              </a:lnSpc>
              <a:buSzPct val="100000"/>
              <a:buFont typeface="+mj-lt"/>
              <a:buAutoNum type="arabicPeriod" startAt="5"/>
            </a:pPr>
            <a:r>
              <a:rPr lang="en-US" sz="750" dirty="0">
                <a:solidFill>
                  <a:srgbClr val="2B4150"/>
                </a:solidFill>
                <a:latin typeface="Source Sans 3" pitchFamily="34" charset="0"/>
                <a:ea typeface="Source Sans 3" pitchFamily="34" charset="-122"/>
                <a:cs typeface="Source Sans 3" pitchFamily="34" charset="-120"/>
              </a:rPr>
              <a:t>Integration with LMS via REST APIs for seamless export/import.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58441"/>
            <a:ext cx="8151763" cy="310083"/>
          </a:xfrm>
          <a:prstGeom prst="rect">
            <a:avLst/>
          </a:prstGeom>
          <a:noFill/>
          <a:ln/>
        </p:spPr>
        <p:txBody>
          <a:bodyPr wrap="none" lIns="0" tIns="0" rIns="0" bIns="0" rtlCol="0" anchor="t"/>
          <a:lstStyle/>
          <a:p>
            <a:pPr marL="0" indent="0" algn="l">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References</a:t>
            </a:r>
            <a:endParaRPr lang="en-US" sz="1950" dirty="0"/>
          </a:p>
        </p:txBody>
      </p:sp>
      <p:sp>
        <p:nvSpPr>
          <p:cNvPr id="3" name="Text 1"/>
          <p:cNvSpPr/>
          <p:nvPr/>
        </p:nvSpPr>
        <p:spPr>
          <a:xfrm>
            <a:off x="496119" y="1416546"/>
            <a:ext cx="8151763" cy="1888406"/>
          </a:xfrm>
          <a:prstGeom prst="rect">
            <a:avLst/>
          </a:prstGeom>
          <a:noFill/>
          <a:ln/>
        </p:spPr>
        <p:txBody>
          <a:bodyPr wrap="square" lIns="0" tIns="0" rIns="0" bIns="0" rtlCol="0" anchor="t"/>
          <a:lstStyle/>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1. Heilman, M., &amp; Smith, N. A., “Good Question! Statistical Ranking for Question Generation,” NAACL, 2010.     </a:t>
            </a:r>
            <a:endParaRPr lang="en-US" sz="950" dirty="0"/>
          </a:p>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2. Du, X., Shao, J., &amp; Cardie, C., “Learning to Ask: Neural Question Generation for Reading Comprehension,” ACL, 2017.   </a:t>
            </a:r>
            <a:endParaRPr lang="en-US" sz="950" dirty="0"/>
          </a:p>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3. Wang, L., &amp; Wan, X., “A Reinforced Topic-Aware Neural Question Generation,” EMNLP, 2018.   </a:t>
            </a:r>
            <a:endParaRPr lang="en-US" sz="950" dirty="0"/>
          </a:p>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4. spaCy documentation — https://spacy.io/ (accessed 2026)     </a:t>
            </a:r>
            <a:endParaRPr lang="en-US" sz="950" dirty="0"/>
          </a:p>
          <a:p>
            <a:pPr marL="0" indent="0" algn="l">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5. NLTK documentation — https://www.nltk.org/ (accessed 2026)     </a:t>
            </a:r>
            <a:endParaRPr lang="en-US" sz="950" dirty="0"/>
          </a:p>
          <a:p>
            <a:pPr marL="0" indent="0" algn="l">
              <a:lnSpc>
                <a:spcPct val="133000"/>
              </a:lnSpc>
              <a:buNone/>
            </a:pPr>
            <a:r>
              <a:rPr lang="en-US" sz="950" dirty="0">
                <a:solidFill>
                  <a:srgbClr val="2B4150"/>
                </a:solidFill>
                <a:latin typeface="Source Sans 3" pitchFamily="34" charset="0"/>
                <a:ea typeface="Source Sans 3" pitchFamily="34" charset="-122"/>
                <a:cs typeface="Source Sans 3" pitchFamily="34" charset="-120"/>
              </a:rPr>
              <a:t>     6. SQLite documentation — https://www.sqlite.org/docs.html (accessed 2026)   </a:t>
            </a:r>
            <a:endParaRPr lang="en-US" sz="950" dirty="0"/>
          </a:p>
        </p:txBody>
      </p:sp>
      <p:sp>
        <p:nvSpPr>
          <p:cNvPr id="4" name="Shape 2"/>
          <p:cNvSpPr/>
          <p:nvPr/>
        </p:nvSpPr>
        <p:spPr>
          <a:xfrm>
            <a:off x="496119" y="3475434"/>
            <a:ext cx="8151763" cy="14288"/>
          </a:xfrm>
          <a:prstGeom prst="roundRect">
            <a:avLst>
              <a:gd name="adj" fmla="val 49998"/>
            </a:avLst>
          </a:prstGeom>
          <a:solidFill>
            <a:srgbClr val="2B4150">
              <a:alpha val="50000"/>
            </a:srgbClr>
          </a:solidFill>
          <a:ln/>
        </p:spPr>
      </p:sp>
      <p:sp>
        <p:nvSpPr>
          <p:cNvPr id="5" name="Text 3"/>
          <p:cNvSpPr/>
          <p:nvPr/>
        </p:nvSpPr>
        <p:spPr>
          <a:xfrm>
            <a:off x="496119" y="3706713"/>
            <a:ext cx="8151763" cy="193849"/>
          </a:xfrm>
          <a:prstGeom prst="rect">
            <a:avLst/>
          </a:prstGeom>
          <a:noFill/>
          <a:ln/>
        </p:spPr>
        <p:txBody>
          <a:bodyPr wrap="none" lIns="0" tIns="0" rIns="0" bIns="0" rtlCol="0" anchor="t"/>
          <a:lstStyle/>
          <a:p>
            <a:pPr marL="0" indent="0" algn="ctr">
              <a:lnSpc>
                <a:spcPct val="104000"/>
              </a:lnSpc>
              <a:buNone/>
            </a:pPr>
            <a:r>
              <a:rPr lang="en-US" sz="1200" dirty="0">
                <a:solidFill>
                  <a:srgbClr val="124E73"/>
                </a:solidFill>
                <a:latin typeface="MuseoModerno Medium" pitchFamily="34" charset="0"/>
                <a:ea typeface="MuseoModerno Medium" pitchFamily="34" charset="-122"/>
                <a:cs typeface="MuseoModerno Medium" pitchFamily="34" charset="-120"/>
              </a:rPr>
              <a:t>Thank You</a:t>
            </a:r>
            <a:endParaRPr lang="en-US" sz="1200" dirty="0"/>
          </a:p>
        </p:txBody>
      </p:sp>
      <p:sp>
        <p:nvSpPr>
          <p:cNvPr id="6" name="Text 4"/>
          <p:cNvSpPr/>
          <p:nvPr/>
        </p:nvSpPr>
        <p:spPr>
          <a:xfrm>
            <a:off x="267519" y="4086597"/>
            <a:ext cx="8608963" cy="198462"/>
          </a:xfrm>
          <a:prstGeom prst="rect">
            <a:avLst/>
          </a:prstGeom>
          <a:noFill/>
          <a:ln/>
        </p:spPr>
        <p:txBody>
          <a:bodyPr wrap="none" lIns="0" tIns="0" rIns="0" bIns="0" rtlCol="0" anchor="t"/>
          <a:lstStyle/>
          <a:p>
            <a:pPr marL="0" indent="0" algn="ctr">
              <a:lnSpc>
                <a:spcPct val="133000"/>
              </a:lnSpc>
              <a:buNone/>
            </a:pPr>
            <a:r>
              <a:rPr lang="en-US" sz="950" dirty="0">
                <a:solidFill>
                  <a:srgbClr val="2B4150"/>
                </a:solidFill>
                <a:latin typeface="Source Sans 3" pitchFamily="34" charset="0"/>
                <a:ea typeface="Source Sans 3" pitchFamily="34" charset="-122"/>
                <a:cs typeface="Source Sans 3" pitchFamily="34" charset="-120"/>
              </a:rPr>
              <a:t>Questions &amp; Answers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1067</Words>
  <Application>Microsoft Office PowerPoint</Application>
  <PresentationFormat>On-screen Show (16:9)</PresentationFormat>
  <Paragraphs>142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 Display</vt:lpstr>
      <vt:lpstr>Source Sans 3</vt:lpstr>
      <vt:lpstr>Arial</vt:lpstr>
      <vt:lpstr>Source Sans 3 Bold</vt:lpstr>
      <vt:lpstr>MuseoModerno Medium</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DEEKSHITH REDDY</cp:lastModifiedBy>
  <cp:revision>3</cp:revision>
  <dcterms:created xsi:type="dcterms:W3CDTF">2026-08-17T05:05:49Z</dcterms:created>
  <dcterms:modified xsi:type="dcterms:W3CDTF">2026-08-17T05:20:52Z</dcterms:modified>
</cp:coreProperties>
</file>