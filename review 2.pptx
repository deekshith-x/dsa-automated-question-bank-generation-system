
<file path=[Content_Types].xml><?xml version="1.0" encoding="utf-8"?>
<Types xmlns="http://schemas.openxmlformats.org/package/2006/content-types">
  <Default Extension="fntdata" ContentType="application/x-fontdata"/>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true" autoCompressPictures="0" embedTrueTypeFonts="true">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Lst>
  <p:notesMasterIdLst>
    <p:notesMasterId r:id="rId12"/>
  </p:notesMasterIdLst>
  <p:sldSz cx="9144000" cy="5143500"/>
  <p:notesSz cx="5143500" cy="9144000"/>
  <p:embeddedFontLst>
    <p:embeddedFont>
      <p:font typeface="MuseoModerno"/>
      <p:regular r:id="rId201314"/>
    </p:embeddedFont>
    <p:embeddedFont>
      <p:font typeface="MuseoModerno Medium"/>
      <p:regular r:id="rId201315"/>
    </p:embeddedFont>
    <p:embeddedFont>
      <p:font typeface="MuseoModerno Bold"/>
      <p:regular r:id="rId201316"/>
    </p:embeddedFont>
    <p:embeddedFont>
      <p:font typeface="Source Sans 3"/>
      <p:regular r:id="rId201317"/>
    </p:embeddedFont>
    <p:embeddedFont>
      <p:font typeface="Source Sans 3 Medium"/>
      <p:regular r:id="rId201318"/>
    </p:embeddedFont>
    <p:embeddedFont>
      <p:font typeface="Source Sans 3 Bold"/>
      <p:regular r:id="rId201319"/>
    </p:embeddedFont>
  </p:embeddedFontLst>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notesMaster" Target="notesMasters/notesMaster1.xml"/><Relationship Id="rId13" Type="http://schemas.openxmlformats.org/officeDocument/2006/relationships/presProps" Target="presProps.xml"/><Relationship Id="rId14" Type="http://schemas.openxmlformats.org/officeDocument/2006/relationships/viewProps" Target="viewProps.xml"/><Relationship Id="rId15" Type="http://schemas.openxmlformats.org/officeDocument/2006/relationships/theme" Target="theme/theme1.xml"/><Relationship Id="rId16" Type="http://schemas.openxmlformats.org/officeDocument/2006/relationships/tableStyles" Target="tableStyles.xml"/><Relationship Id="rId201314" Target="fonts/201314.fntdata" Type="http://schemas.openxmlformats.org/officeDocument/2006/relationships/font"/><Relationship Id="rId201315" Target="fonts/201315.fntdata" Type="http://schemas.openxmlformats.org/officeDocument/2006/relationships/font"/><Relationship Id="rId201316" Target="fonts/201316.fntdata" Type="http://schemas.openxmlformats.org/officeDocument/2006/relationships/font"/><Relationship Id="rId201317" Target="fonts/201317.fntdata" Type="http://schemas.openxmlformats.org/officeDocument/2006/relationships/font"/><Relationship Id="rId201318" Target="fonts/201318.fntdata" Type="http://schemas.openxmlformats.org/officeDocument/2006/relationships/font"/><Relationship Id="rId201319" Target="fonts/201319.fntdata" Type="http://schemas.openxmlformats.org/officeDocument/2006/relationships/font"/><Relationship Id="rId201320" Target="fonts/201320.fntdata" Type="http://schemas.openxmlformats.org/officeDocument/2006/relationships/font"/><Relationship Id="rId201321" Target="fonts/201321.fntdata" Type="http://schemas.openxmlformats.org/officeDocument/2006/relationships/font"/><Relationship Id="rId201322" Target="fonts/201322.fntdata" Type="http://schemas.openxmlformats.org/officeDocument/2006/relationships/font"/><Relationship Id="rId201323" Target="fonts/201323.fntdata" Type="http://schemas.openxmlformats.org/officeDocument/2006/relationships/font"/></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hyperlink" Target="https://gamma.app/?utm_source=made-with-gamma" TargetMode="External"/><Relationship Id="rId1" Type="http://schemas.openxmlformats.org/officeDocument/2006/relationships/image" Target="../media/image-1002-1.png"/><Relationship Id="rId3"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Slide master 1">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50738C"/>
          </a:solidFill>
          <a:ln/>
        </p:spPr>
      </p:sp>
      <p:sp>
        <p:nvSpPr>
          <p:cNvPr id="3" name="Shape 1"/>
          <p:cNvSpPr/>
          <p:nvPr/>
        </p:nvSpPr>
        <p:spPr>
          <a:xfrm>
            <a:off x="0" y="0"/>
            <a:ext cx="9144000" cy="5143500"/>
          </a:xfrm>
          <a:prstGeom prst="rect">
            <a:avLst/>
          </a:prstGeom>
          <a:solidFill>
            <a:srgbClr val="FFFCF5"/>
          </a:solidFill>
          <a:ln/>
        </p:spPr>
      </p:sp>
      <p:pic>
        <p:nvPicPr>
          <p:cNvPr id="4" name="Image 0" descr="preencoded.png">
            <a:hlinkClick r:id="rId2" tooltip=""/>
          </p:cNvPr>
          <p:cNvPicPr>
            <a:picLocks noChangeAspect="1"/>
          </p:cNvPicPr>
          <p:nvPr/>
        </p:nvPicPr>
        <p:blipFill>
          <a:blip r:embed="rId1"/>
          <a:stretch>
            <a:fillRect/>
          </a:stretch>
        </p:blipFill>
        <p:spPr>
          <a:xfrm>
            <a:off x="8029180" y="4844491"/>
            <a:ext cx="1071843" cy="256032"/>
          </a:xfrm>
          <a:prstGeom prst="rect">
            <a:avLst/>
          </a:prstGeom>
        </p:spPr>
      </p:pic>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jpeg"/><Relationship Id="rId2" Type="http://schemas.openxmlformats.org/officeDocument/2006/relationships/slideLayout" Target="../slideLayouts/slideLayout2.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jpeg"/><Relationship Id="rId2" Type="http://schemas.openxmlformats.org/officeDocument/2006/relationships/slideLayout" Target="../slideLayouts/slideLayout2.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slideLayout" Target="../slideLayouts/slideLayout2.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slideLayout" Target="../slideLayouts/slideLayout2.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2.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2.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jpeg"/><Relationship Id="rId2" Type="http://schemas.openxmlformats.org/officeDocument/2006/relationships/slideLayout" Target="../slideLayouts/slideLayout2.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jpeg"/><Relationship Id="rId2" Type="http://schemas.openxmlformats.org/officeDocument/2006/relationships/image" Target="../media/image-8-2.png"/><Relationship Id="rId3" Type="http://schemas.openxmlformats.org/officeDocument/2006/relationships/image" Target="../media/image-8-3.jpeg"/><Relationship Id="rId4" Type="http://schemas.openxmlformats.org/officeDocument/2006/relationships/image" Target="../media/image-8-4.jpeg"/><Relationship Id="rId5" Type="http://schemas.openxmlformats.org/officeDocument/2006/relationships/image" Target="../media/image-8-5.jpeg"/><Relationship Id="rId6" Type="http://schemas.openxmlformats.org/officeDocument/2006/relationships/image" Target="../media/image-8-6.png"/><Relationship Id="rId7" Type="http://schemas.openxmlformats.org/officeDocument/2006/relationships/image" Target="../media/image-8-7.jpeg"/><Relationship Id="rId8" Type="http://schemas.openxmlformats.org/officeDocument/2006/relationships/slideLayout" Target="../slideLayouts/slideLayout2.xml"/><Relationship Id="rId9"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jpeg"/><Relationship Id="rId2" Type="http://schemas.openxmlformats.org/officeDocument/2006/relationships/slideLayout" Target="../slideLayouts/slideLayout2.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3429000" cy="5143500"/>
          </a:xfrm>
          <a:prstGeom prst="rect">
            <a:avLst/>
          </a:prstGeom>
        </p:spPr>
      </p:pic>
      <p:sp>
        <p:nvSpPr>
          <p:cNvPr id="3" name="Text 0"/>
          <p:cNvSpPr/>
          <p:nvPr/>
        </p:nvSpPr>
        <p:spPr>
          <a:xfrm>
            <a:off x="3925119" y="1723727"/>
            <a:ext cx="4722763" cy="775097"/>
          </a:xfrm>
          <a:prstGeom prst="rect">
            <a:avLst/>
          </a:prstGeom>
          <a:noFill/>
          <a:ln/>
        </p:spPr>
        <p:txBody>
          <a:bodyPr wrap="square" lIns="0" tIns="0" rIns="0" bIns="0" rtlCol="0" anchor="t">
            <a:normAutofit/>
          </a:bodyPr>
          <a:lstStyle/>
          <a:p>
            <a:pPr algn="l" indent="0" marL="0">
              <a:lnSpc>
                <a:spcPct val="104000"/>
              </a:lnSpc>
              <a:buNone/>
            </a:pPr>
            <a:r>
              <a:rPr lang="en-US" sz="2400" dirty="0">
                <a:solidFill>
                  <a:srgbClr val="124E73"/>
                </a:solidFill>
                <a:latin typeface="MuseoModerno Medium" pitchFamily="34" charset="0"/>
                <a:ea typeface="MuseoModerno Medium" pitchFamily="34" charset="-122"/>
                <a:cs typeface="MuseoModerno Medium" pitchFamily="34" charset="-120"/>
              </a:rPr>
              <a:t>Automated Question Bank Generation System</a:t>
            </a:r>
            <a:endParaRPr lang="en-US" sz="2400" dirty="0"/>
          </a:p>
        </p:txBody>
      </p:sp>
      <p:sp>
        <p:nvSpPr>
          <p:cNvPr id="4" name="Text 1"/>
          <p:cNvSpPr/>
          <p:nvPr/>
        </p:nvSpPr>
        <p:spPr>
          <a:xfrm>
            <a:off x="3925119" y="2684859"/>
            <a:ext cx="4722763" cy="734913"/>
          </a:xfrm>
          <a:prstGeom prst="rect">
            <a:avLst/>
          </a:prstGeom>
          <a:noFill/>
          <a:ln/>
        </p:spPr>
        <p:txBody>
          <a:bodyPr wrap="square" lIns="0" tIns="0" rIns="0" bIns="0" rtlCol="0" anchor="t"/>
          <a:lstStyle/>
          <a:p>
            <a:pPr algn="l" indent="0" marL="0">
              <a:lnSpc>
                <a:spcPct val="133000"/>
              </a:lnSpc>
              <a:spcAft>
                <a:spcPts val="1050"/>
              </a:spcAft>
              <a:buNone/>
            </a:pPr>
            <a:r>
              <a:rPr lang="en-US" sz="950" dirty="0">
                <a:solidFill>
                  <a:srgbClr val="2B4150"/>
                </a:solidFill>
                <a:latin typeface="Source Sans 3" pitchFamily="34" charset="0"/>
                <a:ea typeface="Source Sans 3" pitchFamily="34" charset="-122"/>
                <a:cs typeface="Source Sans 3" pitchFamily="34" charset="-120"/>
              </a:rPr>
              <a:t>     PBL Review – 2   </a:t>
            </a:r>
            <a:endParaRPr lang="en-US" sz="950" dirty="0"/>
          </a:p>
          <a:p>
            <a:pPr algn="l" indent="0" marL="0">
              <a:lnSpc>
                <a:spcPct val="133000"/>
              </a:lnSpc>
              <a:buNone/>
            </a:pPr>
            <a:r>
              <a:rPr lang="en-US" sz="950" dirty="0">
                <a:solidFill>
                  <a:srgbClr val="2B4150"/>
                </a:solidFill>
                <a:latin typeface="Source Sans 3" pitchFamily="34" charset="0"/>
                <a:ea typeface="Source Sans 3" pitchFamily="34" charset="-122"/>
                <a:cs typeface="Source Sans 3" pitchFamily="34" charset="-120"/>
              </a:rPr>
              <a:t> Student Name: [Your Name] · Roll No: [Your Roll Number] · Dept: Computer Science &amp; Engineering · College: [College Name] · Guide: [Guide Name]</a:t>
            </a:r>
            <a:endParaRPr lang="en-US" sz="9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496119" y="347216"/>
            <a:ext cx="8151763" cy="261640"/>
          </a:xfrm>
          <a:prstGeom prst="rect">
            <a:avLst/>
          </a:prstGeom>
          <a:noFill/>
          <a:ln/>
        </p:spPr>
        <p:txBody>
          <a:bodyPr wrap="none" lIns="0" tIns="0" rIns="0" bIns="0" rtlCol="0" anchor="t"/>
          <a:lstStyle/>
          <a:p>
            <a:pPr algn="l" indent="0" marL="0">
              <a:lnSpc>
                <a:spcPct val="104000"/>
              </a:lnSpc>
              <a:buNone/>
            </a:pPr>
            <a:r>
              <a:rPr lang="en-US" sz="1600" dirty="0">
                <a:solidFill>
                  <a:srgbClr val="124E73"/>
                </a:solidFill>
                <a:latin typeface="MuseoModerno Medium" pitchFamily="34" charset="0"/>
                <a:ea typeface="MuseoModerno Medium" pitchFamily="34" charset="-122"/>
                <a:cs typeface="MuseoModerno Medium" pitchFamily="34" charset="-120"/>
              </a:rPr>
              <a:t>Introduction &amp; Problem Statement</a:t>
            </a:r>
            <a:endParaRPr lang="en-US" sz="1600" dirty="0"/>
          </a:p>
        </p:txBody>
      </p:sp>
      <p:sp>
        <p:nvSpPr>
          <p:cNvPr id="3" name="Text 1"/>
          <p:cNvSpPr/>
          <p:nvPr/>
        </p:nvSpPr>
        <p:spPr>
          <a:xfrm>
            <a:off x="496119" y="820787"/>
            <a:ext cx="4788917" cy="308818"/>
          </a:xfrm>
          <a:prstGeom prst="rect">
            <a:avLst/>
          </a:prstGeom>
          <a:noFill/>
          <a:ln/>
        </p:spPr>
        <p:txBody>
          <a:bodyPr wrap="square" lIns="0" tIns="0" rIns="0" bIns="0" rtlCol="0" anchor="t">
            <a:normAutofit/>
          </a:bodyPr>
          <a:lstStyle/>
          <a:p>
            <a:pPr algn="l" indent="0" marL="0">
              <a:lnSpc>
                <a:spcPct val="123000"/>
              </a:lnSpc>
              <a:buNone/>
            </a:pPr>
            <a:r>
              <a:rPr lang="en-US" sz="800" dirty="0">
                <a:solidFill>
                  <a:srgbClr val="2B4150"/>
                </a:solidFill>
                <a:latin typeface="Source Sans 3" pitchFamily="34" charset="0"/>
                <a:ea typeface="Source Sans 3" pitchFamily="34" charset="-122"/>
                <a:cs typeface="Source Sans 3" pitchFamily="34" charset="-120"/>
              </a:rPr>
              <a:t>         Preparing exam questions manually is time-consuming, repetitive, and error-prone. Teachers need varied questions across topics and difficulty levels, and maintaining large question banks is difficult.       </a:t>
            </a:r>
            <a:endParaRPr lang="en-US" sz="800" dirty="0"/>
          </a:p>
        </p:txBody>
      </p:sp>
      <p:sp>
        <p:nvSpPr>
          <p:cNvPr id="4" name="Text 2"/>
          <p:cNvSpPr/>
          <p:nvPr/>
        </p:nvSpPr>
        <p:spPr>
          <a:xfrm>
            <a:off x="496119" y="1209080"/>
            <a:ext cx="4788917" cy="710282"/>
          </a:xfrm>
          <a:prstGeom prst="rect">
            <a:avLst/>
          </a:prstGeom>
          <a:noFill/>
          <a:ln/>
        </p:spPr>
        <p:txBody>
          <a:bodyPr wrap="square" lIns="0" tIns="41866" rIns="0" bIns="0" rtlCol="0" anchor="t">
            <a:normAutofit/>
          </a:bodyPr>
          <a:lstStyle/>
          <a:p>
            <a:pPr algn="l" marL="162560" indent="-162560">
              <a:lnSpc>
                <a:spcPct val="123000"/>
              </a:lnSpc>
              <a:buSzPct val="100000"/>
              <a:buChar char="•"/>
            </a:pPr>
            <a:r>
              <a:rPr lang="en-US" sz="800" dirty="0">
                <a:solidFill>
                  <a:srgbClr val="2B4150"/>
                </a:solidFill>
                <a:latin typeface="Source Sans 3" pitchFamily="34" charset="0"/>
                <a:ea typeface="Source Sans 3" pitchFamily="34" charset="-122"/>
                <a:cs typeface="Source Sans 3" pitchFamily="34" charset="-120"/>
              </a:rPr>
              <a:t>Manual preparation leads to repetition and inconsistent difficulty.</a:t>
            </a:r>
            <a:endParaRPr lang="en-US" sz="800" dirty="0"/>
          </a:p>
          <a:p>
            <a:pPr algn="l" marL="162560" indent="-162560">
              <a:lnSpc>
                <a:spcPct val="123000"/>
              </a:lnSpc>
              <a:buSzPct val="100000"/>
              <a:buChar char="•"/>
            </a:pPr>
            <a:r>
              <a:rPr lang="en-US" sz="800" dirty="0">
                <a:solidFill>
                  <a:srgbClr val="2B4150"/>
                </a:solidFill>
                <a:latin typeface="Source Sans 3" pitchFamily="34" charset="0"/>
                <a:ea typeface="Source Sans 3" pitchFamily="34" charset="-122"/>
                <a:cs typeface="Source Sans 3" pitchFamily="34" charset="-120"/>
              </a:rPr>
              <a:t>Organizing and searching large banks is inefficient.</a:t>
            </a:r>
            <a:endParaRPr lang="en-US" sz="800" dirty="0"/>
          </a:p>
          <a:p>
            <a:pPr algn="l" marL="162560" indent="-162560">
              <a:lnSpc>
                <a:spcPct val="123000"/>
              </a:lnSpc>
              <a:buSzPct val="100000"/>
              <a:buChar char="•"/>
            </a:pPr>
            <a:r>
              <a:rPr lang="en-US" sz="800" dirty="0">
                <a:solidFill>
                  <a:srgbClr val="2B4150"/>
                </a:solidFill>
                <a:latin typeface="Source Sans 3" pitchFamily="34" charset="0"/>
                <a:ea typeface="Source Sans 3" pitchFamily="34" charset="-122"/>
                <a:cs typeface="Source Sans 3" pitchFamily="34" charset="-120"/>
              </a:rPr>
              <a:t>Teachers spend significant time creating and curating content.</a:t>
            </a:r>
            <a:endParaRPr lang="en-US" sz="800" dirty="0"/>
          </a:p>
          <a:p>
            <a:pPr algn="l" marL="162560" indent="-162560">
              <a:lnSpc>
                <a:spcPct val="123000"/>
              </a:lnSpc>
              <a:buSzPct val="100000"/>
              <a:buChar char="•"/>
            </a:pPr>
            <a:r>
              <a:rPr lang="en-US" sz="800" dirty="0">
                <a:solidFill>
                  <a:srgbClr val="2B4150"/>
                </a:solidFill>
                <a:latin typeface="Source Sans 3" pitchFamily="34" charset="0"/>
                <a:ea typeface="Source Sans 3" pitchFamily="34" charset="-122"/>
                <a:cs typeface="Source Sans 3" pitchFamily="34" charset="-120"/>
              </a:rPr>
              <a:t>Our system automates generation from textbooks and PDFs to reduce effort.</a:t>
            </a:r>
            <a:endParaRPr lang="en-US" sz="800" dirty="0"/>
          </a:p>
        </p:txBody>
      </p:sp>
      <p:pic>
        <p:nvPicPr>
          <p:cNvPr id="5" name="Image 0" descr="preencoded.png">    </p:cNvPr>
          <p:cNvPicPr>
            <a:picLocks noChangeAspect="1"/>
          </p:cNvPicPr>
          <p:nvPr/>
        </p:nvPicPr>
        <p:blipFill>
          <a:blip r:embed="rId1"/>
          <a:stretch>
            <a:fillRect/>
          </a:stretch>
        </p:blipFill>
        <p:spPr>
          <a:xfrm>
            <a:off x="5545038" y="840656"/>
            <a:ext cx="3107531" cy="3107531"/>
          </a:xfrm>
          <a:prstGeom prst="rect">
            <a:avLst/>
          </a:prstGeom>
        </p:spPr>
      </p:pic>
      <p:sp>
        <p:nvSpPr>
          <p:cNvPr id="6" name="Shape 3"/>
          <p:cNvSpPr/>
          <p:nvPr/>
        </p:nvSpPr>
        <p:spPr>
          <a:xfrm>
            <a:off x="496119" y="4172992"/>
            <a:ext cx="8151763" cy="14288"/>
          </a:xfrm>
          <a:prstGeom prst="roundRect">
            <a:avLst>
              <a:gd name="adj" fmla="val 49998"/>
            </a:avLst>
          </a:prstGeom>
          <a:solidFill>
            <a:srgbClr val="2B4150">
              <a:alpha val="50000"/>
            </a:srgbClr>
          </a:solidFill>
          <a:ln/>
        </p:spPr>
      </p:sp>
      <p:sp>
        <p:nvSpPr>
          <p:cNvPr id="7" name="Text 4"/>
          <p:cNvSpPr/>
          <p:nvPr/>
        </p:nvSpPr>
        <p:spPr>
          <a:xfrm>
            <a:off x="496119" y="4345856"/>
            <a:ext cx="8151763" cy="163488"/>
          </a:xfrm>
          <a:prstGeom prst="rect">
            <a:avLst/>
          </a:prstGeom>
          <a:noFill/>
          <a:ln/>
        </p:spPr>
        <p:txBody>
          <a:bodyPr wrap="none" lIns="0" tIns="0" rIns="0" bIns="0" rtlCol="0" anchor="t"/>
          <a:lstStyle/>
          <a:p>
            <a:pPr algn="l" indent="0" marL="0">
              <a:lnSpc>
                <a:spcPct val="104000"/>
              </a:lnSpc>
              <a:buNone/>
            </a:pPr>
            <a:r>
              <a:rPr lang="en-US" sz="1000" dirty="0">
                <a:solidFill>
                  <a:srgbClr val="124E73"/>
                </a:solidFill>
                <a:latin typeface="MuseoModerno Medium" pitchFamily="34" charset="0"/>
                <a:ea typeface="MuseoModerno Medium" pitchFamily="34" charset="-122"/>
                <a:cs typeface="MuseoModerno Medium" pitchFamily="34" charset="-120"/>
              </a:rPr>
              <a:t>Problem Statement</a:t>
            </a:r>
            <a:endParaRPr lang="en-US" sz="1000" dirty="0"/>
          </a:p>
        </p:txBody>
      </p:sp>
      <p:sp>
        <p:nvSpPr>
          <p:cNvPr id="8" name="Text 5"/>
          <p:cNvSpPr/>
          <p:nvPr/>
        </p:nvSpPr>
        <p:spPr>
          <a:xfrm>
            <a:off x="496119" y="4641800"/>
            <a:ext cx="8608963" cy="154409"/>
          </a:xfrm>
          <a:prstGeom prst="rect">
            <a:avLst/>
          </a:prstGeom>
          <a:noFill/>
          <a:ln/>
        </p:spPr>
        <p:txBody>
          <a:bodyPr wrap="none" lIns="0" tIns="0" rIns="0" bIns="0" rtlCol="0" anchor="t"/>
          <a:lstStyle/>
          <a:p>
            <a:pPr algn="l" indent="0" marL="0">
              <a:lnSpc>
                <a:spcPct val="123000"/>
              </a:lnSpc>
              <a:buNone/>
            </a:pPr>
            <a:r>
              <a:rPr lang="en-US" sz="800" dirty="0">
                <a:solidFill>
                  <a:srgbClr val="2B4150"/>
                </a:solidFill>
                <a:latin typeface="Source Sans 3" pitchFamily="34" charset="0"/>
                <a:ea typeface="Source Sans 3" pitchFamily="34" charset="-122"/>
                <a:cs typeface="Source Sans 3" pitchFamily="34" charset="-120"/>
              </a:rPr>
              <a:t> “To develop a system that automatically generates, categorizes, and stores questions from educational content while reducing teacher effort and improving question-bank organization.”</a:t>
            </a:r>
            <a:endParaRPr lang="en-US" sz="8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496119" y="1083692"/>
            <a:ext cx="8151763" cy="310083"/>
          </a:xfrm>
          <a:prstGeom prst="rect">
            <a:avLst/>
          </a:prstGeom>
          <a:noFill/>
          <a:ln/>
        </p:spPr>
        <p:txBody>
          <a:bodyPr wrap="none" lIns="0" tIns="0" rIns="0" bIns="0" rtlCol="0" anchor="t"/>
          <a:lstStyle/>
          <a:p>
            <a:pPr algn="l" indent="0" marL="0">
              <a:lnSpc>
                <a:spcPct val="104000"/>
              </a:lnSpc>
              <a:buNone/>
            </a:pPr>
            <a:r>
              <a:rPr lang="en-US" sz="1950" dirty="0">
                <a:solidFill>
                  <a:srgbClr val="124E73"/>
                </a:solidFill>
                <a:latin typeface="MuseoModerno Medium" pitchFamily="34" charset="0"/>
                <a:ea typeface="MuseoModerno Medium" pitchFamily="34" charset="-122"/>
                <a:cs typeface="MuseoModerno Medium" pitchFamily="34" charset="-120"/>
              </a:rPr>
              <a:t>Literature Review — Study 1: NLP-Based Automatic QG</a:t>
            </a:r>
            <a:endParaRPr lang="en-US" sz="1950" dirty="0"/>
          </a:p>
        </p:txBody>
      </p:sp>
      <p:sp>
        <p:nvSpPr>
          <p:cNvPr id="3" name="Text 1"/>
          <p:cNvSpPr/>
          <p:nvPr/>
        </p:nvSpPr>
        <p:spPr>
          <a:xfrm>
            <a:off x="496119" y="1691432"/>
            <a:ext cx="3924598" cy="396925"/>
          </a:xfrm>
          <a:prstGeom prst="rect">
            <a:avLst/>
          </a:prstGeom>
          <a:noFill/>
          <a:ln/>
        </p:spPr>
        <p:txBody>
          <a:bodyPr wrap="square" lIns="0" tIns="0" rIns="0" bIns="0" rtlCol="0" anchor="t">
            <a:normAutofit/>
          </a:bodyPr>
          <a:lstStyle/>
          <a:p>
            <a:pPr algn="l" indent="0" marL="0">
              <a:lnSpc>
                <a:spcPct val="133000"/>
              </a:lnSpc>
              <a:buNone/>
            </a:pPr>
            <a:r>
              <a:rPr lang="en-US" sz="950" dirty="0">
                <a:solidFill>
                  <a:srgbClr val="2B4150"/>
                </a:solidFill>
                <a:latin typeface="Source Sans 3" pitchFamily="34" charset="0"/>
                <a:ea typeface="Source Sans 3" pitchFamily="34" charset="-122"/>
                <a:cs typeface="Source Sans 3" pitchFamily="34" charset="-120"/>
              </a:rPr>
              <a:t>         Traditional NLP pipelines extract salient text segments and convert them into questions using rule-based templates and syntactic parsing.       </a:t>
            </a:r>
            <a:endParaRPr lang="en-US" sz="950" dirty="0"/>
          </a:p>
        </p:txBody>
      </p:sp>
      <p:sp>
        <p:nvSpPr>
          <p:cNvPr id="4" name="Text 2"/>
          <p:cNvSpPr/>
          <p:nvPr/>
        </p:nvSpPr>
        <p:spPr>
          <a:xfrm>
            <a:off x="496119" y="2199977"/>
            <a:ext cx="3924598" cy="880616"/>
          </a:xfrm>
          <a:prstGeom prst="rect">
            <a:avLst/>
          </a:prstGeom>
          <a:noFill/>
          <a:ln/>
        </p:spPr>
        <p:txBody>
          <a:bodyPr wrap="square" lIns="0" tIns="49619" rIns="0" bIns="0" rtlCol="0" anchor="t">
            <a:normAutofit/>
          </a:bodyPr>
          <a:lstStyle/>
          <a:p>
            <a:pPr algn="l" marL="193040" indent="-193040">
              <a:lnSpc>
                <a:spcPct val="133000"/>
              </a:lnSpc>
              <a:buSzPct val="100000"/>
              <a:buChar char="•"/>
            </a:pPr>
            <a:r>
              <a:rPr lang="en-US" sz="950" dirty="0">
                <a:solidFill>
                  <a:srgbClr val="2B4150"/>
                </a:solidFill>
                <a:latin typeface="Source Sans 3" pitchFamily="34" charset="0"/>
                <a:ea typeface="Source Sans 3" pitchFamily="34" charset="-122"/>
                <a:cs typeface="Source Sans 3" pitchFamily="34" charset="-120"/>
              </a:rPr>
              <a:t>Text processed with tokenization, POS tagging, and dependency parsing.</a:t>
            </a:r>
            <a:endParaRPr lang="en-US" sz="950" dirty="0"/>
          </a:p>
          <a:p>
            <a:pPr algn="l" marL="193040" indent="-193040">
              <a:lnSpc>
                <a:spcPct val="133000"/>
              </a:lnSpc>
              <a:buSzPct val="100000"/>
              <a:buChar char="•"/>
            </a:pPr>
            <a:r>
              <a:rPr lang="en-US" sz="950" dirty="0">
                <a:solidFill>
                  <a:srgbClr val="2B4150"/>
                </a:solidFill>
                <a:latin typeface="Source Sans 3" pitchFamily="34" charset="0"/>
                <a:ea typeface="Source Sans 3" pitchFamily="34" charset="-122"/>
                <a:cs typeface="Source Sans 3" pitchFamily="34" charset="-120"/>
              </a:rPr>
              <a:t>Keywords and important sentences are identified for QG.</a:t>
            </a:r>
            <a:endParaRPr lang="en-US" sz="950" dirty="0"/>
          </a:p>
          <a:p>
            <a:pPr algn="l" marL="193040" indent="-193040">
              <a:lnSpc>
                <a:spcPct val="133000"/>
              </a:lnSpc>
              <a:buSzPct val="100000"/>
              <a:buChar char="•"/>
            </a:pPr>
            <a:r>
              <a:rPr lang="en-US" sz="950" dirty="0">
                <a:solidFill>
                  <a:srgbClr val="2B4150"/>
                </a:solidFill>
                <a:latin typeface="Source Sans 3" pitchFamily="34" charset="0"/>
                <a:ea typeface="Source Sans 3" pitchFamily="34" charset="-122"/>
                <a:cs typeface="Source Sans 3" pitchFamily="34" charset="-120"/>
              </a:rPr>
              <a:t>Effective for short factual questions and cloze-style items.</a:t>
            </a:r>
            <a:endParaRPr lang="en-US" sz="950" dirty="0"/>
          </a:p>
        </p:txBody>
      </p:sp>
      <p:sp>
        <p:nvSpPr>
          <p:cNvPr id="5" name="Text 3"/>
          <p:cNvSpPr/>
          <p:nvPr/>
        </p:nvSpPr>
        <p:spPr>
          <a:xfrm>
            <a:off x="496119" y="3192214"/>
            <a:ext cx="3924598" cy="396925"/>
          </a:xfrm>
          <a:prstGeom prst="rect">
            <a:avLst/>
          </a:prstGeom>
          <a:noFill/>
          <a:ln/>
        </p:spPr>
        <p:txBody>
          <a:bodyPr wrap="square" lIns="0" tIns="0" rIns="0" bIns="0" rtlCol="0" anchor="t">
            <a:normAutofit/>
          </a:bodyPr>
          <a:lstStyle/>
          <a:p>
            <a:pPr algn="l" indent="0" marL="0">
              <a:lnSpc>
                <a:spcPct val="133000"/>
              </a:lnSpc>
              <a:buNone/>
            </a:pPr>
            <a:r>
              <a:rPr lang="en-US" sz="950" b="1" dirty="0">
                <a:solidFill>
                  <a:srgbClr val="2B4150"/>
                </a:solidFill>
                <a:latin typeface="Source Sans 3 Bold" pitchFamily="34" charset="0"/>
                <a:ea typeface="Source Sans 3 Bold" pitchFamily="34" charset="-122"/>
                <a:cs typeface="Source Sans 3 Bold" pitchFamily="34" charset="-120"/>
              </a:rPr>
              <a:t>Limitations:</a:t>
            </a:r>
            <a:pPr algn="l" indent="0" marL="0">
              <a:lnSpc>
                <a:spcPct val="133000"/>
              </a:lnSpc>
              <a:buNone/>
            </a:pPr>
            <a:r>
              <a:rPr lang="en-US" sz="950" dirty="0">
                <a:solidFill>
                  <a:srgbClr val="2B4150"/>
                </a:solidFill>
                <a:latin typeface="Source Sans 3" pitchFamily="34" charset="0"/>
                <a:ea typeface="Source Sans 3" pitchFamily="34" charset="-122"/>
                <a:cs typeface="Source Sans 3" pitchFamily="34" charset="-120"/>
              </a:rPr>
              <a:t> grammatical weaknesses, contextual mismatch, and limited difficulty classification.</a:t>
            </a:r>
            <a:endParaRPr lang="en-US" sz="950" dirty="0"/>
          </a:p>
        </p:txBody>
      </p:sp>
      <p:pic>
        <p:nvPicPr>
          <p:cNvPr id="6" name="Image 0" descr="preencoded.png">    </p:cNvPr>
          <p:cNvPicPr>
            <a:picLocks noChangeAspect="1"/>
          </p:cNvPicPr>
          <p:nvPr/>
        </p:nvPicPr>
        <p:blipFill>
          <a:blip r:embed="rId1"/>
          <a:stretch>
            <a:fillRect/>
          </a:stretch>
        </p:blipFill>
        <p:spPr>
          <a:xfrm>
            <a:off x="4728046" y="1719337"/>
            <a:ext cx="3924598" cy="1692399"/>
          </a:xfrm>
          <a:prstGeom prst="rect">
            <a:avLst/>
          </a:prstGeom>
        </p:spPr>
      </p:pic>
      <p:sp>
        <p:nvSpPr>
          <p:cNvPr id="7" name="Text 4"/>
          <p:cNvSpPr/>
          <p:nvPr/>
        </p:nvSpPr>
        <p:spPr>
          <a:xfrm>
            <a:off x="4992109" y="3090794"/>
            <a:ext cx="890371" cy="111296"/>
          </a:xfrm>
          <a:prstGeom prst="rect">
            <a:avLst/>
          </a:prstGeom>
          <a:noFill/>
          <a:ln/>
        </p:spPr>
        <p:txBody>
          <a:bodyPr wrap="none" lIns="0" tIns="0" rIns="0" bIns="0" rtlCol="0" anchor="t"/>
          <a:lstStyle/>
          <a:p>
            <a:pPr algn="l" indent="0" marL="0">
              <a:lnSpc>
                <a:spcPct val="104000"/>
              </a:lnSpc>
              <a:buNone/>
            </a:pPr>
            <a:r>
              <a:rPr lang="en-US" sz="700" dirty="0">
                <a:solidFill>
                  <a:srgbClr val="FFFFFF"/>
                </a:solidFill>
                <a:latin typeface="MuseoModerno Medium" pitchFamily="34" charset="0"/>
                <a:ea typeface="MuseoModerno Medium" pitchFamily="34" charset="-122"/>
                <a:cs typeface="MuseoModerno Medium" pitchFamily="34" charset="-120"/>
              </a:rPr>
              <a:t>Generated Question</a:t>
            </a:r>
            <a:endParaRPr lang="en-US" sz="700" dirty="0"/>
          </a:p>
        </p:txBody>
      </p:sp>
      <p:sp>
        <p:nvSpPr>
          <p:cNvPr id="8" name="Text 5"/>
          <p:cNvSpPr/>
          <p:nvPr/>
        </p:nvSpPr>
        <p:spPr>
          <a:xfrm>
            <a:off x="4992109" y="2699031"/>
            <a:ext cx="1012982" cy="111296"/>
          </a:xfrm>
          <a:prstGeom prst="rect">
            <a:avLst/>
          </a:prstGeom>
          <a:noFill/>
          <a:ln/>
        </p:spPr>
        <p:txBody>
          <a:bodyPr wrap="none" lIns="0" tIns="0" rIns="0" bIns="0" rtlCol="0" anchor="t"/>
          <a:lstStyle/>
          <a:p>
            <a:pPr algn="l" indent="0" marL="0">
              <a:lnSpc>
                <a:spcPct val="104000"/>
              </a:lnSpc>
              <a:buNone/>
            </a:pPr>
            <a:r>
              <a:rPr lang="en-US" sz="700" dirty="0">
                <a:solidFill>
                  <a:srgbClr val="FFFFFF"/>
                </a:solidFill>
                <a:latin typeface="MuseoModerno Medium" pitchFamily="34" charset="0"/>
                <a:ea typeface="MuseoModerno Medium" pitchFamily="34" charset="-122"/>
                <a:cs typeface="MuseoModerno Medium" pitchFamily="34" charset="-120"/>
              </a:rPr>
              <a:t>Important Information</a:t>
            </a:r>
            <a:endParaRPr lang="en-US" sz="700" dirty="0"/>
          </a:p>
        </p:txBody>
      </p:sp>
      <p:sp>
        <p:nvSpPr>
          <p:cNvPr id="9" name="Text 6"/>
          <p:cNvSpPr/>
          <p:nvPr/>
        </p:nvSpPr>
        <p:spPr>
          <a:xfrm>
            <a:off x="4992109" y="2311225"/>
            <a:ext cx="890371" cy="111296"/>
          </a:xfrm>
          <a:prstGeom prst="rect">
            <a:avLst/>
          </a:prstGeom>
          <a:noFill/>
          <a:ln/>
        </p:spPr>
        <p:txBody>
          <a:bodyPr wrap="none" lIns="0" tIns="0" rIns="0" bIns="0" rtlCol="0" anchor="t"/>
          <a:lstStyle/>
          <a:p>
            <a:pPr algn="l" indent="0" marL="0">
              <a:lnSpc>
                <a:spcPct val="104000"/>
              </a:lnSpc>
              <a:buNone/>
            </a:pPr>
            <a:r>
              <a:rPr lang="en-US" sz="700" dirty="0">
                <a:solidFill>
                  <a:srgbClr val="FFFFFF"/>
                </a:solidFill>
                <a:latin typeface="MuseoModerno Medium" pitchFamily="34" charset="0"/>
                <a:ea typeface="MuseoModerno Medium" pitchFamily="34" charset="-122"/>
                <a:cs typeface="MuseoModerno Medium" pitchFamily="34" charset="-120"/>
              </a:rPr>
              <a:t>NLP Processing</a:t>
            </a:r>
            <a:endParaRPr lang="en-US" sz="700" dirty="0"/>
          </a:p>
        </p:txBody>
      </p:sp>
      <p:sp>
        <p:nvSpPr>
          <p:cNvPr id="10" name="Text 7"/>
          <p:cNvSpPr/>
          <p:nvPr/>
        </p:nvSpPr>
        <p:spPr>
          <a:xfrm>
            <a:off x="4992109" y="1919462"/>
            <a:ext cx="890371" cy="111296"/>
          </a:xfrm>
          <a:prstGeom prst="rect">
            <a:avLst/>
          </a:prstGeom>
          <a:noFill/>
          <a:ln/>
        </p:spPr>
        <p:txBody>
          <a:bodyPr wrap="none" lIns="0" tIns="0" rIns="0" bIns="0" rtlCol="0" anchor="t"/>
          <a:lstStyle/>
          <a:p>
            <a:pPr algn="l" indent="0" marL="0">
              <a:lnSpc>
                <a:spcPct val="104000"/>
              </a:lnSpc>
              <a:buNone/>
            </a:pPr>
            <a:r>
              <a:rPr lang="en-US" sz="700" dirty="0">
                <a:solidFill>
                  <a:srgbClr val="FFFFFF"/>
                </a:solidFill>
                <a:latin typeface="MuseoModerno Medium" pitchFamily="34" charset="0"/>
                <a:ea typeface="MuseoModerno Medium" pitchFamily="34" charset="-122"/>
                <a:cs typeface="MuseoModerno Medium" pitchFamily="34" charset="-120"/>
              </a:rPr>
              <a:t>Text</a:t>
            </a:r>
            <a:endParaRPr lang="en-US" sz="700" dirty="0"/>
          </a:p>
        </p:txBody>
      </p:sp>
      <p:sp>
        <p:nvSpPr>
          <p:cNvPr id="11" name="Text 8"/>
          <p:cNvSpPr/>
          <p:nvPr/>
        </p:nvSpPr>
        <p:spPr>
          <a:xfrm>
            <a:off x="4728046" y="3551262"/>
            <a:ext cx="3924598" cy="396925"/>
          </a:xfrm>
          <a:prstGeom prst="rect">
            <a:avLst/>
          </a:prstGeom>
          <a:noFill/>
          <a:ln/>
        </p:spPr>
        <p:txBody>
          <a:bodyPr wrap="square" lIns="0" tIns="0" rIns="0" bIns="0" rtlCol="0" anchor="t">
            <a:normAutofit/>
          </a:bodyPr>
          <a:lstStyle/>
          <a:p>
            <a:pPr algn="l" indent="0" marL="0">
              <a:lnSpc>
                <a:spcPct val="133000"/>
              </a:lnSpc>
              <a:buNone/>
            </a:pPr>
            <a:r>
              <a:rPr lang="en-US" sz="950" dirty="0">
                <a:solidFill>
                  <a:srgbClr val="2B4150"/>
                </a:solidFill>
                <a:latin typeface="Source Sans 3" pitchFamily="34" charset="0"/>
                <a:ea typeface="Source Sans 3" pitchFamily="34" charset="-122"/>
                <a:cs typeface="Source Sans 3" pitchFamily="34" charset="-120"/>
              </a:rPr>
              <a:t> Diagram: The pipeline shows extraction of key facts via NLP, followed by template-driven question generation and basic post-processing.</a:t>
            </a:r>
            <a:endParaRPr lang="en-US" sz="9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496119" y="1083692"/>
            <a:ext cx="8151763" cy="310083"/>
          </a:xfrm>
          <a:prstGeom prst="rect">
            <a:avLst/>
          </a:prstGeom>
          <a:noFill/>
          <a:ln/>
        </p:spPr>
        <p:txBody>
          <a:bodyPr wrap="none" lIns="0" tIns="0" rIns="0" bIns="0" rtlCol="0" anchor="t"/>
          <a:lstStyle/>
          <a:p>
            <a:pPr algn="l" indent="0" marL="0">
              <a:lnSpc>
                <a:spcPct val="104000"/>
              </a:lnSpc>
              <a:buNone/>
            </a:pPr>
            <a:r>
              <a:rPr lang="en-US" sz="1950" dirty="0">
                <a:solidFill>
                  <a:srgbClr val="124E73"/>
                </a:solidFill>
                <a:latin typeface="MuseoModerno Medium" pitchFamily="34" charset="0"/>
                <a:ea typeface="MuseoModerno Medium" pitchFamily="34" charset="-122"/>
                <a:cs typeface="MuseoModerno Medium" pitchFamily="34" charset="-120"/>
              </a:rPr>
              <a:t>Literature Review — Study 2: Transformer / AI-Based QG</a:t>
            </a:r>
            <a:endParaRPr lang="en-US" sz="1950" dirty="0"/>
          </a:p>
        </p:txBody>
      </p:sp>
      <p:sp>
        <p:nvSpPr>
          <p:cNvPr id="3" name="Text 1"/>
          <p:cNvSpPr/>
          <p:nvPr/>
        </p:nvSpPr>
        <p:spPr>
          <a:xfrm>
            <a:off x="496119" y="1691432"/>
            <a:ext cx="3924598" cy="595387"/>
          </a:xfrm>
          <a:prstGeom prst="rect">
            <a:avLst/>
          </a:prstGeom>
          <a:noFill/>
          <a:ln/>
        </p:spPr>
        <p:txBody>
          <a:bodyPr wrap="square" lIns="0" tIns="0" rIns="0" bIns="0" rtlCol="0" anchor="t">
            <a:normAutofit/>
          </a:bodyPr>
          <a:lstStyle/>
          <a:p>
            <a:pPr algn="l" indent="0" marL="0">
              <a:lnSpc>
                <a:spcPct val="133000"/>
              </a:lnSpc>
              <a:buNone/>
            </a:pPr>
            <a:r>
              <a:rPr lang="en-US" sz="950" dirty="0">
                <a:solidFill>
                  <a:srgbClr val="2B4150"/>
                </a:solidFill>
                <a:latin typeface="Source Sans 3" pitchFamily="34" charset="0"/>
                <a:ea typeface="Source Sans 3" pitchFamily="34" charset="-122"/>
                <a:cs typeface="Source Sans 3" pitchFamily="34" charset="-120"/>
              </a:rPr>
              <a:t>         Modern transformer models (T5, BART, BERT variants) frame question generation as sequence-to-sequence tasks, producing more context-aware and varied questions.       </a:t>
            </a:r>
            <a:endParaRPr lang="en-US" sz="950" dirty="0"/>
          </a:p>
        </p:txBody>
      </p:sp>
      <p:sp>
        <p:nvSpPr>
          <p:cNvPr id="4" name="Text 2"/>
          <p:cNvSpPr/>
          <p:nvPr/>
        </p:nvSpPr>
        <p:spPr>
          <a:xfrm>
            <a:off x="496119" y="2398440"/>
            <a:ext cx="3924598" cy="682154"/>
          </a:xfrm>
          <a:prstGeom prst="rect">
            <a:avLst/>
          </a:prstGeom>
          <a:noFill/>
          <a:ln/>
        </p:spPr>
        <p:txBody>
          <a:bodyPr wrap="square" lIns="0" tIns="49619" rIns="0" bIns="0" rtlCol="0" anchor="t">
            <a:normAutofit/>
          </a:bodyPr>
          <a:lstStyle/>
          <a:p>
            <a:pPr algn="l" marL="193040" indent="-193040">
              <a:lnSpc>
                <a:spcPct val="133000"/>
              </a:lnSpc>
              <a:buSzPct val="100000"/>
              <a:buChar char="•"/>
            </a:pPr>
            <a:r>
              <a:rPr lang="en-US" sz="950" dirty="0">
                <a:solidFill>
                  <a:srgbClr val="2B4150"/>
                </a:solidFill>
                <a:latin typeface="Source Sans 3" pitchFamily="34" charset="0"/>
                <a:ea typeface="Source Sans 3" pitchFamily="34" charset="-122"/>
                <a:cs typeface="Source Sans 3" pitchFamily="34" charset="-120"/>
              </a:rPr>
              <a:t>Learns context and generates multiple question types (fact, why, how).</a:t>
            </a:r>
            <a:endParaRPr lang="en-US" sz="950" dirty="0"/>
          </a:p>
          <a:p>
            <a:pPr algn="l" marL="193040" indent="-193040">
              <a:lnSpc>
                <a:spcPct val="133000"/>
              </a:lnSpc>
              <a:buSzPct val="100000"/>
              <a:buChar char="•"/>
            </a:pPr>
            <a:r>
              <a:rPr lang="en-US" sz="950" dirty="0">
                <a:solidFill>
                  <a:srgbClr val="2B4150"/>
                </a:solidFill>
                <a:latin typeface="Source Sans 3" pitchFamily="34" charset="0"/>
                <a:ea typeface="Source Sans 3" pitchFamily="34" charset="-122"/>
                <a:cs typeface="Source Sans 3" pitchFamily="34" charset="-120"/>
              </a:rPr>
              <a:t>Better grammar and coherence compared to rule-based systems.</a:t>
            </a:r>
            <a:endParaRPr lang="en-US" sz="950" dirty="0"/>
          </a:p>
          <a:p>
            <a:pPr algn="l" marL="193040" indent="-193040">
              <a:lnSpc>
                <a:spcPct val="133000"/>
              </a:lnSpc>
              <a:buSzPct val="100000"/>
              <a:buChar char="•"/>
            </a:pPr>
            <a:r>
              <a:rPr lang="en-US" sz="950" dirty="0">
                <a:solidFill>
                  <a:srgbClr val="2B4150"/>
                </a:solidFill>
                <a:latin typeface="Source Sans 3" pitchFamily="34" charset="0"/>
                <a:ea typeface="Source Sans 3" pitchFamily="34" charset="-122"/>
                <a:cs typeface="Source Sans 3" pitchFamily="34" charset="-120"/>
              </a:rPr>
              <a:t>Scales for large corpora and diverse curricula.</a:t>
            </a:r>
            <a:endParaRPr lang="en-US" sz="950" dirty="0"/>
          </a:p>
        </p:txBody>
      </p:sp>
      <p:sp>
        <p:nvSpPr>
          <p:cNvPr id="5" name="Text 3"/>
          <p:cNvSpPr/>
          <p:nvPr/>
        </p:nvSpPr>
        <p:spPr>
          <a:xfrm>
            <a:off x="496119" y="3192214"/>
            <a:ext cx="3924598" cy="396925"/>
          </a:xfrm>
          <a:prstGeom prst="rect">
            <a:avLst/>
          </a:prstGeom>
          <a:noFill/>
          <a:ln/>
        </p:spPr>
        <p:txBody>
          <a:bodyPr wrap="square" lIns="0" tIns="0" rIns="0" bIns="0" rtlCol="0" anchor="t">
            <a:normAutofit/>
          </a:bodyPr>
          <a:lstStyle/>
          <a:p>
            <a:pPr algn="l" indent="0" marL="0">
              <a:lnSpc>
                <a:spcPct val="133000"/>
              </a:lnSpc>
              <a:buNone/>
            </a:pPr>
            <a:r>
              <a:rPr lang="en-US" sz="950" b="1" dirty="0">
                <a:solidFill>
                  <a:srgbClr val="2B4150"/>
                </a:solidFill>
                <a:latin typeface="Source Sans 3 Bold" pitchFamily="34" charset="0"/>
                <a:ea typeface="Source Sans 3 Bold" pitchFamily="34" charset="-122"/>
                <a:cs typeface="Source Sans 3 Bold" pitchFamily="34" charset="-120"/>
              </a:rPr>
              <a:t>Limitations:</a:t>
            </a:r>
            <a:pPr algn="l" indent="0" marL="0">
              <a:lnSpc>
                <a:spcPct val="133000"/>
              </a:lnSpc>
              <a:buNone/>
            </a:pPr>
            <a:r>
              <a:rPr lang="en-US" sz="950" dirty="0">
                <a:solidFill>
                  <a:srgbClr val="2B4150"/>
                </a:solidFill>
                <a:latin typeface="Source Sans 3" pitchFamily="34" charset="0"/>
                <a:ea typeface="Source Sans 3" pitchFamily="34" charset="-122"/>
                <a:cs typeface="Source Sans 3" pitchFamily="34" charset="-120"/>
              </a:rPr>
              <a:t> large dataset needs, high compute, and the need for human quality checks.</a:t>
            </a:r>
            <a:endParaRPr lang="en-US" sz="950" dirty="0"/>
          </a:p>
        </p:txBody>
      </p:sp>
      <p:pic>
        <p:nvPicPr>
          <p:cNvPr id="6" name="Image 0" descr="preencoded.png">    </p:cNvPr>
          <p:cNvPicPr>
            <a:picLocks noChangeAspect="1"/>
          </p:cNvPicPr>
          <p:nvPr/>
        </p:nvPicPr>
        <p:blipFill>
          <a:blip r:embed="rId1"/>
          <a:stretch>
            <a:fillRect/>
          </a:stretch>
        </p:blipFill>
        <p:spPr>
          <a:xfrm>
            <a:off x="4728046" y="1719337"/>
            <a:ext cx="3924598" cy="1692399"/>
          </a:xfrm>
          <a:prstGeom prst="rect">
            <a:avLst/>
          </a:prstGeom>
        </p:spPr>
      </p:pic>
      <p:sp>
        <p:nvSpPr>
          <p:cNvPr id="7" name="Text 4"/>
          <p:cNvSpPr/>
          <p:nvPr/>
        </p:nvSpPr>
        <p:spPr>
          <a:xfrm>
            <a:off x="4992109" y="3090794"/>
            <a:ext cx="890371" cy="111296"/>
          </a:xfrm>
          <a:prstGeom prst="rect">
            <a:avLst/>
          </a:prstGeom>
          <a:noFill/>
          <a:ln/>
        </p:spPr>
        <p:txBody>
          <a:bodyPr wrap="none" lIns="0" tIns="0" rIns="0" bIns="0" rtlCol="0" anchor="t"/>
          <a:lstStyle/>
          <a:p>
            <a:pPr algn="l" indent="0" marL="0">
              <a:lnSpc>
                <a:spcPct val="104000"/>
              </a:lnSpc>
              <a:buNone/>
            </a:pPr>
            <a:r>
              <a:rPr lang="en-US" sz="700" dirty="0">
                <a:solidFill>
                  <a:srgbClr val="FFFFFF"/>
                </a:solidFill>
                <a:latin typeface="MuseoModerno Medium" pitchFamily="34" charset="0"/>
                <a:ea typeface="MuseoModerno Medium" pitchFamily="34" charset="-122"/>
                <a:cs typeface="MuseoModerno Medium" pitchFamily="34" charset="-120"/>
              </a:rPr>
              <a:t>Quality Check</a:t>
            </a:r>
            <a:endParaRPr lang="en-US" sz="700" dirty="0"/>
          </a:p>
        </p:txBody>
      </p:sp>
      <p:sp>
        <p:nvSpPr>
          <p:cNvPr id="8" name="Text 5"/>
          <p:cNvSpPr/>
          <p:nvPr/>
        </p:nvSpPr>
        <p:spPr>
          <a:xfrm>
            <a:off x="4992109" y="2699031"/>
            <a:ext cx="904036" cy="111296"/>
          </a:xfrm>
          <a:prstGeom prst="rect">
            <a:avLst/>
          </a:prstGeom>
          <a:noFill/>
          <a:ln/>
        </p:spPr>
        <p:txBody>
          <a:bodyPr wrap="none" lIns="0" tIns="0" rIns="0" bIns="0" rtlCol="0" anchor="t"/>
          <a:lstStyle/>
          <a:p>
            <a:pPr algn="l" indent="0" marL="0">
              <a:lnSpc>
                <a:spcPct val="104000"/>
              </a:lnSpc>
              <a:buNone/>
            </a:pPr>
            <a:r>
              <a:rPr lang="en-US" sz="700" dirty="0">
                <a:solidFill>
                  <a:srgbClr val="FFFFFF"/>
                </a:solidFill>
                <a:latin typeface="MuseoModerno Medium" pitchFamily="34" charset="0"/>
                <a:ea typeface="MuseoModerno Medium" pitchFamily="34" charset="-122"/>
                <a:cs typeface="MuseoModerno Medium" pitchFamily="34" charset="-120"/>
              </a:rPr>
              <a:t>Question Generation</a:t>
            </a:r>
            <a:endParaRPr lang="en-US" sz="700" dirty="0"/>
          </a:p>
        </p:txBody>
      </p:sp>
      <p:sp>
        <p:nvSpPr>
          <p:cNvPr id="9" name="Text 6"/>
          <p:cNvSpPr/>
          <p:nvPr/>
        </p:nvSpPr>
        <p:spPr>
          <a:xfrm>
            <a:off x="4992109" y="2311225"/>
            <a:ext cx="890371" cy="111296"/>
          </a:xfrm>
          <a:prstGeom prst="rect">
            <a:avLst/>
          </a:prstGeom>
          <a:noFill/>
          <a:ln/>
        </p:spPr>
        <p:txBody>
          <a:bodyPr wrap="none" lIns="0" tIns="0" rIns="0" bIns="0" rtlCol="0" anchor="t"/>
          <a:lstStyle/>
          <a:p>
            <a:pPr algn="l" indent="0" marL="0">
              <a:lnSpc>
                <a:spcPct val="104000"/>
              </a:lnSpc>
              <a:buNone/>
            </a:pPr>
            <a:r>
              <a:rPr lang="en-US" sz="700" dirty="0">
                <a:solidFill>
                  <a:srgbClr val="FFFFFF"/>
                </a:solidFill>
                <a:latin typeface="MuseoModerno Medium" pitchFamily="34" charset="0"/>
                <a:ea typeface="MuseoModerno Medium" pitchFamily="34" charset="-122"/>
                <a:cs typeface="MuseoModerno Medium" pitchFamily="34" charset="-120"/>
              </a:rPr>
              <a:t>Transformer Model</a:t>
            </a:r>
            <a:endParaRPr lang="en-US" sz="700" dirty="0"/>
          </a:p>
        </p:txBody>
      </p:sp>
      <p:sp>
        <p:nvSpPr>
          <p:cNvPr id="10" name="Text 7"/>
          <p:cNvSpPr/>
          <p:nvPr/>
        </p:nvSpPr>
        <p:spPr>
          <a:xfrm>
            <a:off x="4992109" y="1919462"/>
            <a:ext cx="890371" cy="111296"/>
          </a:xfrm>
          <a:prstGeom prst="rect">
            <a:avLst/>
          </a:prstGeom>
          <a:noFill/>
          <a:ln/>
        </p:spPr>
        <p:txBody>
          <a:bodyPr wrap="none" lIns="0" tIns="0" rIns="0" bIns="0" rtlCol="0" anchor="t"/>
          <a:lstStyle/>
          <a:p>
            <a:pPr algn="l" indent="0" marL="0">
              <a:lnSpc>
                <a:spcPct val="104000"/>
              </a:lnSpc>
              <a:buNone/>
            </a:pPr>
            <a:r>
              <a:rPr lang="en-US" sz="700" dirty="0">
                <a:solidFill>
                  <a:srgbClr val="FFFFFF"/>
                </a:solidFill>
                <a:latin typeface="MuseoModerno Medium" pitchFamily="34" charset="0"/>
                <a:ea typeface="MuseoModerno Medium" pitchFamily="34" charset="-122"/>
                <a:cs typeface="MuseoModerno Medium" pitchFamily="34" charset="-120"/>
              </a:rPr>
              <a:t>Educational Text</a:t>
            </a:r>
            <a:endParaRPr lang="en-US" sz="700" dirty="0"/>
          </a:p>
        </p:txBody>
      </p:sp>
      <p:sp>
        <p:nvSpPr>
          <p:cNvPr id="11" name="Text 8"/>
          <p:cNvSpPr/>
          <p:nvPr/>
        </p:nvSpPr>
        <p:spPr>
          <a:xfrm>
            <a:off x="4728046" y="3551262"/>
            <a:ext cx="3924598" cy="396925"/>
          </a:xfrm>
          <a:prstGeom prst="rect">
            <a:avLst/>
          </a:prstGeom>
          <a:noFill/>
          <a:ln/>
        </p:spPr>
        <p:txBody>
          <a:bodyPr wrap="square" lIns="0" tIns="0" rIns="0" bIns="0" rtlCol="0" anchor="t">
            <a:normAutofit/>
          </a:bodyPr>
          <a:lstStyle/>
          <a:p>
            <a:pPr algn="l" indent="0" marL="0">
              <a:lnSpc>
                <a:spcPct val="133000"/>
              </a:lnSpc>
              <a:buNone/>
            </a:pPr>
            <a:r>
              <a:rPr lang="en-US" sz="950" dirty="0">
                <a:solidFill>
                  <a:srgbClr val="2B4150"/>
                </a:solidFill>
                <a:latin typeface="Source Sans 3" pitchFamily="34" charset="0"/>
                <a:ea typeface="Source Sans 3" pitchFamily="34" charset="-122"/>
                <a:cs typeface="Source Sans 3" pitchFamily="34" charset="-120"/>
              </a:rPr>
              <a:t> Diagram: A transformer encodes context and decodes question candidates; outputs require filtering, ranking, and human validation for high-stakes use.</a:t>
            </a:r>
            <a:endParaRPr lang="en-US" sz="9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496119" y="861864"/>
            <a:ext cx="8151763" cy="310083"/>
          </a:xfrm>
          <a:prstGeom prst="rect">
            <a:avLst/>
          </a:prstGeom>
          <a:noFill/>
          <a:ln/>
        </p:spPr>
        <p:txBody>
          <a:bodyPr wrap="none" lIns="0" tIns="0" rIns="0" bIns="0" rtlCol="0" anchor="t"/>
          <a:lstStyle/>
          <a:p>
            <a:pPr algn="l" indent="0" marL="0">
              <a:lnSpc>
                <a:spcPct val="104000"/>
              </a:lnSpc>
              <a:buNone/>
            </a:pPr>
            <a:r>
              <a:rPr lang="en-US" sz="1950" dirty="0">
                <a:solidFill>
                  <a:srgbClr val="124E73"/>
                </a:solidFill>
                <a:latin typeface="MuseoModerno Medium" pitchFamily="34" charset="0"/>
                <a:ea typeface="MuseoModerno Medium" pitchFamily="34" charset="-122"/>
                <a:cs typeface="MuseoModerno Medium" pitchFamily="34" charset="-120"/>
              </a:rPr>
              <a:t>Literature Review — Study 3: Online Question Bank Systems</a:t>
            </a:r>
            <a:endParaRPr lang="en-US" sz="1950" dirty="0"/>
          </a:p>
        </p:txBody>
      </p:sp>
      <p:sp>
        <p:nvSpPr>
          <p:cNvPr id="3" name="Text 1"/>
          <p:cNvSpPr/>
          <p:nvPr/>
        </p:nvSpPr>
        <p:spPr>
          <a:xfrm>
            <a:off x="496119" y="1469603"/>
            <a:ext cx="4347270" cy="396925"/>
          </a:xfrm>
          <a:prstGeom prst="rect">
            <a:avLst/>
          </a:prstGeom>
          <a:noFill/>
          <a:ln/>
        </p:spPr>
        <p:txBody>
          <a:bodyPr wrap="square" lIns="0" tIns="0" rIns="0" bIns="0" rtlCol="0" anchor="t">
            <a:normAutofit/>
          </a:bodyPr>
          <a:lstStyle/>
          <a:p>
            <a:pPr algn="l" indent="0" marL="0">
              <a:lnSpc>
                <a:spcPct val="133000"/>
              </a:lnSpc>
              <a:buNone/>
            </a:pPr>
            <a:r>
              <a:rPr lang="en-US" sz="950" dirty="0">
                <a:solidFill>
                  <a:srgbClr val="2B4150"/>
                </a:solidFill>
                <a:latin typeface="Source Sans 3" pitchFamily="34" charset="0"/>
                <a:ea typeface="Source Sans 3" pitchFamily="34" charset="-122"/>
                <a:cs typeface="Source Sans 3" pitchFamily="34" charset="-120"/>
              </a:rPr>
              <a:t>         Learning management systems and online banks emphasize storage, retrieval, and test assembly rather than automatic generation.       </a:t>
            </a:r>
            <a:endParaRPr lang="en-US" sz="950" dirty="0"/>
          </a:p>
        </p:txBody>
      </p:sp>
      <p:sp>
        <p:nvSpPr>
          <p:cNvPr id="4" name="Text 2"/>
          <p:cNvSpPr/>
          <p:nvPr/>
        </p:nvSpPr>
        <p:spPr>
          <a:xfrm>
            <a:off x="496119" y="1978149"/>
            <a:ext cx="4347270" cy="682154"/>
          </a:xfrm>
          <a:prstGeom prst="rect">
            <a:avLst/>
          </a:prstGeom>
          <a:noFill/>
          <a:ln/>
        </p:spPr>
        <p:txBody>
          <a:bodyPr wrap="square" lIns="0" tIns="49619" rIns="0" bIns="0" rtlCol="0" anchor="t">
            <a:normAutofit/>
          </a:bodyPr>
          <a:lstStyle/>
          <a:p>
            <a:pPr algn="l" marL="193040" indent="-193040">
              <a:lnSpc>
                <a:spcPct val="133000"/>
              </a:lnSpc>
              <a:buSzPct val="100000"/>
              <a:buChar char="•"/>
            </a:pPr>
            <a:r>
              <a:rPr lang="en-US" sz="950" dirty="0">
                <a:solidFill>
                  <a:srgbClr val="2B4150"/>
                </a:solidFill>
                <a:latin typeface="Source Sans 3" pitchFamily="34" charset="0"/>
                <a:ea typeface="Source Sans 3" pitchFamily="34" charset="-122"/>
                <a:cs typeface="Source Sans 3" pitchFamily="34" charset="-120"/>
              </a:rPr>
              <a:t>Questions stored in structured databases with metadata.</a:t>
            </a:r>
            <a:endParaRPr lang="en-US" sz="950" dirty="0"/>
          </a:p>
          <a:p>
            <a:pPr algn="l" marL="193040" indent="-193040">
              <a:lnSpc>
                <a:spcPct val="133000"/>
              </a:lnSpc>
              <a:buSzPct val="100000"/>
              <a:buChar char="•"/>
            </a:pPr>
            <a:r>
              <a:rPr lang="en-US" sz="950" dirty="0">
                <a:solidFill>
                  <a:srgbClr val="2B4150"/>
                </a:solidFill>
                <a:latin typeface="Source Sans 3" pitchFamily="34" charset="0"/>
                <a:ea typeface="Source Sans 3" pitchFamily="34" charset="-122"/>
                <a:cs typeface="Source Sans 3" pitchFamily="34" charset="-120"/>
              </a:rPr>
              <a:t>Search, tagging, and filtered export for test creation.</a:t>
            </a:r>
            <a:endParaRPr lang="en-US" sz="950" dirty="0"/>
          </a:p>
          <a:p>
            <a:pPr algn="l" marL="193040" indent="-193040">
              <a:lnSpc>
                <a:spcPct val="133000"/>
              </a:lnSpc>
              <a:buSzPct val="100000"/>
              <a:buChar char="•"/>
            </a:pPr>
            <a:r>
              <a:rPr lang="en-US" sz="950" dirty="0">
                <a:solidFill>
                  <a:srgbClr val="2B4150"/>
                </a:solidFill>
                <a:latin typeface="Source Sans 3" pitchFamily="34" charset="0"/>
                <a:ea typeface="Source Sans 3" pitchFamily="34" charset="-122"/>
                <a:cs typeface="Source Sans 3" pitchFamily="34" charset="-120"/>
              </a:rPr>
              <a:t>Teacher-driven entry and manual curation remain common.</a:t>
            </a:r>
            <a:endParaRPr lang="en-US" sz="950" dirty="0"/>
          </a:p>
        </p:txBody>
      </p:sp>
      <p:sp>
        <p:nvSpPr>
          <p:cNvPr id="5" name="Text 3"/>
          <p:cNvSpPr/>
          <p:nvPr/>
        </p:nvSpPr>
        <p:spPr>
          <a:xfrm>
            <a:off x="496119" y="2771924"/>
            <a:ext cx="4347270" cy="396925"/>
          </a:xfrm>
          <a:prstGeom prst="rect">
            <a:avLst/>
          </a:prstGeom>
          <a:noFill/>
          <a:ln/>
        </p:spPr>
        <p:txBody>
          <a:bodyPr wrap="square" lIns="0" tIns="0" rIns="0" bIns="0" rtlCol="0" anchor="t">
            <a:normAutofit/>
          </a:bodyPr>
          <a:lstStyle/>
          <a:p>
            <a:pPr algn="l" indent="0" marL="0">
              <a:lnSpc>
                <a:spcPct val="133000"/>
              </a:lnSpc>
              <a:buNone/>
            </a:pPr>
            <a:r>
              <a:rPr lang="en-US" sz="950" b="1" dirty="0">
                <a:solidFill>
                  <a:srgbClr val="2B4150"/>
                </a:solidFill>
                <a:latin typeface="Source Sans 3 Bold" pitchFamily="34" charset="0"/>
                <a:ea typeface="Source Sans 3 Bold" pitchFamily="34" charset="-122"/>
                <a:cs typeface="Source Sans 3 Bold" pitchFamily="34" charset="-120"/>
              </a:rPr>
              <a:t>Limitations:</a:t>
            </a:r>
            <a:pPr algn="l" indent="0" marL="0">
              <a:lnSpc>
                <a:spcPct val="133000"/>
              </a:lnSpc>
              <a:buNone/>
            </a:pPr>
            <a:r>
              <a:rPr lang="en-US" sz="950" dirty="0">
                <a:solidFill>
                  <a:srgbClr val="2B4150"/>
                </a:solidFill>
                <a:latin typeface="Source Sans 3" pitchFamily="34" charset="0"/>
                <a:ea typeface="Source Sans 3" pitchFamily="34" charset="-122"/>
                <a:cs typeface="Source Sans 3" pitchFamily="34" charset="-120"/>
              </a:rPr>
              <a:t> reliance on manual input; limited automatic generation and difficulty estimation.</a:t>
            </a:r>
            <a:endParaRPr lang="en-US" sz="950" dirty="0"/>
          </a:p>
        </p:txBody>
      </p:sp>
      <p:pic>
        <p:nvPicPr>
          <p:cNvPr id="6" name="Image 0" descr="preencoded.png">    </p:cNvPr>
          <p:cNvPicPr>
            <a:picLocks noChangeAspect="1"/>
          </p:cNvPicPr>
          <p:nvPr/>
        </p:nvPicPr>
        <p:blipFill>
          <a:blip r:embed="rId1"/>
          <a:stretch>
            <a:fillRect/>
          </a:stretch>
        </p:blipFill>
        <p:spPr>
          <a:xfrm>
            <a:off x="5150718" y="1497509"/>
            <a:ext cx="3501851" cy="2136056"/>
          </a:xfrm>
          <a:prstGeom prst="rect">
            <a:avLst/>
          </a:prstGeom>
        </p:spPr>
      </p:pic>
      <p:sp>
        <p:nvSpPr>
          <p:cNvPr id="7" name="Text 4"/>
          <p:cNvSpPr/>
          <p:nvPr/>
        </p:nvSpPr>
        <p:spPr>
          <a:xfrm>
            <a:off x="5235055" y="1915105"/>
            <a:ext cx="798076" cy="106308"/>
          </a:xfrm>
          <a:prstGeom prst="rect">
            <a:avLst/>
          </a:prstGeom>
          <a:noFill/>
          <a:ln/>
        </p:spPr>
        <p:txBody>
          <a:bodyPr wrap="none" lIns="0" tIns="0" rIns="0" bIns="0" rtlCol="0" anchor="t"/>
          <a:lstStyle/>
          <a:p>
            <a:pPr algn="ctr" indent="0" marL="0">
              <a:lnSpc>
                <a:spcPct val="104000"/>
              </a:lnSpc>
              <a:buNone/>
            </a:pPr>
            <a:r>
              <a:rPr lang="en-US" sz="650" dirty="0">
                <a:solidFill>
                  <a:srgbClr val="2B4150"/>
                </a:solidFill>
                <a:latin typeface="MuseoModerno Medium" pitchFamily="34" charset="0"/>
                <a:ea typeface="MuseoModerno Medium" pitchFamily="34" charset="-122"/>
                <a:cs typeface="MuseoModerno Medium" pitchFamily="34" charset="-120"/>
              </a:rPr>
              <a:t>Teacher</a:t>
            </a:r>
            <a:endParaRPr lang="en-US" sz="650" dirty="0"/>
          </a:p>
        </p:txBody>
      </p:sp>
      <p:sp>
        <p:nvSpPr>
          <p:cNvPr id="8" name="Text 5"/>
          <p:cNvSpPr/>
          <p:nvPr/>
        </p:nvSpPr>
        <p:spPr>
          <a:xfrm>
            <a:off x="5794057" y="2862072"/>
            <a:ext cx="798076" cy="106308"/>
          </a:xfrm>
          <a:prstGeom prst="rect">
            <a:avLst/>
          </a:prstGeom>
          <a:noFill/>
          <a:ln/>
        </p:spPr>
        <p:txBody>
          <a:bodyPr wrap="none" lIns="0" tIns="0" rIns="0" bIns="0" rtlCol="0" anchor="t"/>
          <a:lstStyle/>
          <a:p>
            <a:pPr algn="ctr" indent="0" marL="0">
              <a:lnSpc>
                <a:spcPct val="104000"/>
              </a:lnSpc>
              <a:buNone/>
            </a:pPr>
            <a:r>
              <a:rPr lang="en-US" sz="650" dirty="0">
                <a:solidFill>
                  <a:srgbClr val="2B4150"/>
                </a:solidFill>
                <a:latin typeface="MuseoModerno Medium" pitchFamily="34" charset="0"/>
                <a:ea typeface="MuseoModerno Medium" pitchFamily="34" charset="-122"/>
                <a:cs typeface="MuseoModerno Medium" pitchFamily="34" charset="-120"/>
              </a:rPr>
              <a:t>Question Entry</a:t>
            </a:r>
            <a:endParaRPr lang="en-US" sz="650" dirty="0"/>
          </a:p>
        </p:txBody>
      </p:sp>
      <p:sp>
        <p:nvSpPr>
          <p:cNvPr id="9" name="Text 6"/>
          <p:cNvSpPr/>
          <p:nvPr/>
        </p:nvSpPr>
        <p:spPr>
          <a:xfrm>
            <a:off x="6474132" y="2016984"/>
            <a:ext cx="824003" cy="106308"/>
          </a:xfrm>
          <a:prstGeom prst="rect">
            <a:avLst/>
          </a:prstGeom>
          <a:noFill/>
          <a:ln/>
        </p:spPr>
        <p:txBody>
          <a:bodyPr wrap="none" lIns="0" tIns="0" rIns="0" bIns="0" rtlCol="0" anchor="t"/>
          <a:lstStyle/>
          <a:p>
            <a:pPr algn="ctr" indent="0" marL="0">
              <a:lnSpc>
                <a:spcPct val="104000"/>
              </a:lnSpc>
              <a:buNone/>
            </a:pPr>
            <a:r>
              <a:rPr lang="en-US" sz="650" dirty="0">
                <a:solidFill>
                  <a:srgbClr val="2B4150"/>
                </a:solidFill>
                <a:latin typeface="MuseoModerno Medium" pitchFamily="34" charset="0"/>
                <a:ea typeface="MuseoModerno Medium" pitchFamily="34" charset="-122"/>
                <a:cs typeface="MuseoModerno Medium" pitchFamily="34" charset="-120"/>
              </a:rPr>
              <a:t>Database</a:t>
            </a:r>
            <a:endParaRPr lang="en-US" sz="650" dirty="0"/>
          </a:p>
        </p:txBody>
      </p:sp>
      <p:sp>
        <p:nvSpPr>
          <p:cNvPr id="10" name="Text 7"/>
          <p:cNvSpPr/>
          <p:nvPr/>
        </p:nvSpPr>
        <p:spPr>
          <a:xfrm>
            <a:off x="7027345" y="3109592"/>
            <a:ext cx="798076" cy="106307"/>
          </a:xfrm>
          <a:prstGeom prst="rect">
            <a:avLst/>
          </a:prstGeom>
          <a:noFill/>
          <a:ln/>
        </p:spPr>
        <p:txBody>
          <a:bodyPr wrap="none" lIns="0" tIns="0" rIns="0" bIns="0" rtlCol="0" anchor="t"/>
          <a:lstStyle/>
          <a:p>
            <a:pPr algn="ctr" indent="0" marL="0">
              <a:lnSpc>
                <a:spcPct val="104000"/>
              </a:lnSpc>
              <a:buNone/>
            </a:pPr>
            <a:r>
              <a:rPr lang="en-US" sz="650" dirty="0">
                <a:solidFill>
                  <a:srgbClr val="2B4150"/>
                </a:solidFill>
                <a:latin typeface="MuseoModerno Medium" pitchFamily="34" charset="0"/>
                <a:ea typeface="MuseoModerno Medium" pitchFamily="34" charset="-122"/>
                <a:cs typeface="MuseoModerno Medium" pitchFamily="34" charset="-120"/>
              </a:rPr>
              <a:t>Search/Filter</a:t>
            </a:r>
            <a:endParaRPr lang="en-US" sz="650" dirty="0"/>
          </a:p>
        </p:txBody>
      </p:sp>
      <p:sp>
        <p:nvSpPr>
          <p:cNvPr id="11" name="Text 8"/>
          <p:cNvSpPr/>
          <p:nvPr/>
        </p:nvSpPr>
        <p:spPr>
          <a:xfrm>
            <a:off x="7735709" y="2239462"/>
            <a:ext cx="798077" cy="106308"/>
          </a:xfrm>
          <a:prstGeom prst="rect">
            <a:avLst/>
          </a:prstGeom>
          <a:noFill/>
          <a:ln/>
        </p:spPr>
        <p:txBody>
          <a:bodyPr wrap="none" lIns="0" tIns="0" rIns="0" bIns="0" rtlCol="0" anchor="t"/>
          <a:lstStyle/>
          <a:p>
            <a:pPr algn="ctr" indent="0" marL="0">
              <a:lnSpc>
                <a:spcPct val="104000"/>
              </a:lnSpc>
              <a:buNone/>
            </a:pPr>
            <a:r>
              <a:rPr lang="en-US" sz="650" dirty="0">
                <a:solidFill>
                  <a:srgbClr val="2B4150"/>
                </a:solidFill>
                <a:latin typeface="MuseoModerno Medium" pitchFamily="34" charset="0"/>
                <a:ea typeface="MuseoModerno Medium" pitchFamily="34" charset="-122"/>
                <a:cs typeface="MuseoModerno Medium" pitchFamily="34" charset="-120"/>
              </a:rPr>
              <a:t>Test</a:t>
            </a:r>
            <a:endParaRPr lang="en-US" sz="650" dirty="0"/>
          </a:p>
        </p:txBody>
      </p:sp>
      <p:sp>
        <p:nvSpPr>
          <p:cNvPr id="12" name="Text 9"/>
          <p:cNvSpPr/>
          <p:nvPr/>
        </p:nvSpPr>
        <p:spPr>
          <a:xfrm>
            <a:off x="5150718" y="3773091"/>
            <a:ext cx="3501851" cy="396925"/>
          </a:xfrm>
          <a:prstGeom prst="rect">
            <a:avLst/>
          </a:prstGeom>
          <a:noFill/>
          <a:ln/>
        </p:spPr>
        <p:txBody>
          <a:bodyPr wrap="square" lIns="0" tIns="0" rIns="0" bIns="0" rtlCol="0" anchor="t">
            <a:normAutofit/>
          </a:bodyPr>
          <a:lstStyle/>
          <a:p>
            <a:pPr algn="l" indent="0" marL="0">
              <a:lnSpc>
                <a:spcPct val="133000"/>
              </a:lnSpc>
              <a:buNone/>
            </a:pPr>
            <a:r>
              <a:rPr lang="en-US" sz="950" dirty="0">
                <a:solidFill>
                  <a:srgbClr val="2B4150"/>
                </a:solidFill>
                <a:latin typeface="Source Sans 3" pitchFamily="34" charset="0"/>
                <a:ea typeface="Source Sans 3" pitchFamily="34" charset="-122"/>
                <a:cs typeface="Source Sans 3" pitchFamily="34" charset="-120"/>
              </a:rPr>
              <a:t> Diagram: Emphasizes management and retrieval capabilities but limited automation in content creation.</a:t>
            </a:r>
            <a:endParaRPr lang="en-US" sz="9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496119" y="357411"/>
            <a:ext cx="8151763" cy="295573"/>
          </a:xfrm>
          <a:prstGeom prst="rect">
            <a:avLst/>
          </a:prstGeom>
          <a:noFill/>
          <a:ln/>
        </p:spPr>
        <p:txBody>
          <a:bodyPr wrap="none" lIns="0" tIns="0" rIns="0" bIns="0" rtlCol="0" anchor="t"/>
          <a:lstStyle/>
          <a:p>
            <a:pPr algn="l" indent="0" marL="0">
              <a:lnSpc>
                <a:spcPct val="104000"/>
              </a:lnSpc>
              <a:buNone/>
            </a:pPr>
            <a:r>
              <a:rPr lang="en-US" sz="1850" dirty="0">
                <a:solidFill>
                  <a:srgbClr val="124E73"/>
                </a:solidFill>
                <a:latin typeface="MuseoModerno Medium" pitchFamily="34" charset="0"/>
                <a:ea typeface="MuseoModerno Medium" pitchFamily="34" charset="-122"/>
                <a:cs typeface="MuseoModerno Medium" pitchFamily="34" charset="-120"/>
              </a:rPr>
              <a:t>Comparison of Existing Studies</a:t>
            </a:r>
            <a:endParaRPr lang="en-US" sz="1850" dirty="0"/>
          </a:p>
        </p:txBody>
      </p:sp>
      <p:sp>
        <p:nvSpPr>
          <p:cNvPr id="3" name="Text 1"/>
          <p:cNvSpPr/>
          <p:nvPr/>
        </p:nvSpPr>
        <p:spPr>
          <a:xfrm>
            <a:off x="496119" y="878309"/>
            <a:ext cx="8608963" cy="184696"/>
          </a:xfrm>
          <a:prstGeom prst="rect">
            <a:avLst/>
          </a:prstGeom>
          <a:noFill/>
          <a:ln/>
        </p:spPr>
        <p:txBody>
          <a:bodyPr wrap="none" lIns="0" tIns="0" rIns="0" bIns="0" rtlCol="0" anchor="t"/>
          <a:lstStyle/>
          <a:p>
            <a:pPr algn="l" indent="0" marL="0">
              <a:lnSpc>
                <a:spcPct val="130000"/>
              </a:lnSpc>
              <a:buNone/>
            </a:pPr>
            <a:r>
              <a:rPr lang="en-US" sz="900" dirty="0">
                <a:solidFill>
                  <a:srgbClr val="2B4150"/>
                </a:solidFill>
                <a:latin typeface="Source Sans 3" pitchFamily="34" charset="0"/>
                <a:ea typeface="Source Sans 3" pitchFamily="34" charset="-122"/>
                <a:cs typeface="Source Sans 3" pitchFamily="34" charset="-120"/>
              </a:rPr>
              <a:t>     Compact comparison highlights strengths and weaknesses across three solution categories.   </a:t>
            </a:r>
            <a:endParaRPr lang="en-US" sz="900" dirty="0"/>
          </a:p>
        </p:txBody>
      </p:sp>
      <p:sp>
        <p:nvSpPr>
          <p:cNvPr id="4" name="Shape 2"/>
          <p:cNvSpPr/>
          <p:nvPr/>
        </p:nvSpPr>
        <p:spPr>
          <a:xfrm>
            <a:off x="496119" y="1189732"/>
            <a:ext cx="8151763" cy="3011835"/>
          </a:xfrm>
          <a:prstGeom prst="roundRect">
            <a:avLst>
              <a:gd name="adj" fmla="val 589"/>
            </a:avLst>
          </a:prstGeom>
          <a:noFill/>
          <a:ln w="4763">
            <a:solidFill>
              <a:srgbClr val="000000">
                <a:alpha val="8000"/>
              </a:srgbClr>
            </a:solidFill>
            <a:prstDash val="solid"/>
          </a:ln>
        </p:spPr>
      </p:sp>
      <p:sp>
        <p:nvSpPr>
          <p:cNvPr id="5" name="Shape 3"/>
          <p:cNvSpPr/>
          <p:nvPr/>
        </p:nvSpPr>
        <p:spPr>
          <a:xfrm>
            <a:off x="496119" y="1526232"/>
            <a:ext cx="8151763" cy="7389"/>
          </a:xfrm>
          <a:prstGeom prst="rect">
            <a:avLst/>
          </a:prstGeom>
          <a:solidFill>
            <a:srgbClr val="000000">
              <a:alpha val="8000"/>
            </a:srgbClr>
          </a:solidFill>
          <a:ln/>
        </p:spPr>
      </p:sp>
      <p:sp>
        <p:nvSpPr>
          <p:cNvPr id="6" name="Shape 4"/>
          <p:cNvSpPr/>
          <p:nvPr/>
        </p:nvSpPr>
        <p:spPr>
          <a:xfrm>
            <a:off x="496119" y="1860352"/>
            <a:ext cx="8151763" cy="7389"/>
          </a:xfrm>
          <a:prstGeom prst="rect">
            <a:avLst/>
          </a:prstGeom>
          <a:solidFill>
            <a:srgbClr val="000000">
              <a:alpha val="8000"/>
            </a:srgbClr>
          </a:solidFill>
          <a:ln/>
        </p:spPr>
      </p:sp>
      <p:sp>
        <p:nvSpPr>
          <p:cNvPr id="7" name="Shape 5"/>
          <p:cNvSpPr/>
          <p:nvPr/>
        </p:nvSpPr>
        <p:spPr>
          <a:xfrm>
            <a:off x="496119" y="2194471"/>
            <a:ext cx="8151763" cy="7389"/>
          </a:xfrm>
          <a:prstGeom prst="rect">
            <a:avLst/>
          </a:prstGeom>
          <a:solidFill>
            <a:srgbClr val="000000">
              <a:alpha val="8000"/>
            </a:srgbClr>
          </a:solidFill>
          <a:ln/>
        </p:spPr>
      </p:sp>
      <p:sp>
        <p:nvSpPr>
          <p:cNvPr id="8" name="Shape 6"/>
          <p:cNvSpPr/>
          <p:nvPr/>
        </p:nvSpPr>
        <p:spPr>
          <a:xfrm>
            <a:off x="496119" y="2528590"/>
            <a:ext cx="8151763" cy="7389"/>
          </a:xfrm>
          <a:prstGeom prst="rect">
            <a:avLst/>
          </a:prstGeom>
          <a:solidFill>
            <a:srgbClr val="000000">
              <a:alpha val="8000"/>
            </a:srgbClr>
          </a:solidFill>
          <a:ln/>
        </p:spPr>
      </p:sp>
      <p:sp>
        <p:nvSpPr>
          <p:cNvPr id="9" name="Shape 7"/>
          <p:cNvSpPr/>
          <p:nvPr/>
        </p:nvSpPr>
        <p:spPr>
          <a:xfrm>
            <a:off x="496119" y="2862709"/>
            <a:ext cx="8151763" cy="7389"/>
          </a:xfrm>
          <a:prstGeom prst="rect">
            <a:avLst/>
          </a:prstGeom>
          <a:solidFill>
            <a:srgbClr val="000000">
              <a:alpha val="8000"/>
            </a:srgbClr>
          </a:solidFill>
          <a:ln/>
        </p:spPr>
      </p:sp>
      <p:sp>
        <p:nvSpPr>
          <p:cNvPr id="10" name="Shape 8"/>
          <p:cNvSpPr/>
          <p:nvPr/>
        </p:nvSpPr>
        <p:spPr>
          <a:xfrm>
            <a:off x="496119" y="3196828"/>
            <a:ext cx="8151763" cy="7389"/>
          </a:xfrm>
          <a:prstGeom prst="rect">
            <a:avLst/>
          </a:prstGeom>
          <a:solidFill>
            <a:srgbClr val="000000">
              <a:alpha val="8000"/>
            </a:srgbClr>
          </a:solidFill>
          <a:ln/>
        </p:spPr>
      </p:sp>
      <p:sp>
        <p:nvSpPr>
          <p:cNvPr id="11" name="Shape 9"/>
          <p:cNvSpPr/>
          <p:nvPr/>
        </p:nvSpPr>
        <p:spPr>
          <a:xfrm>
            <a:off x="496119" y="3530947"/>
            <a:ext cx="8151763" cy="7389"/>
          </a:xfrm>
          <a:prstGeom prst="rect">
            <a:avLst/>
          </a:prstGeom>
          <a:solidFill>
            <a:srgbClr val="000000">
              <a:alpha val="8000"/>
            </a:srgbClr>
          </a:solidFill>
          <a:ln/>
        </p:spPr>
      </p:sp>
      <p:sp>
        <p:nvSpPr>
          <p:cNvPr id="12" name="Shape 10"/>
          <p:cNvSpPr/>
          <p:nvPr/>
        </p:nvSpPr>
        <p:spPr>
          <a:xfrm>
            <a:off x="496119" y="3865066"/>
            <a:ext cx="8151763" cy="7389"/>
          </a:xfrm>
          <a:prstGeom prst="rect">
            <a:avLst/>
          </a:prstGeom>
          <a:solidFill>
            <a:srgbClr val="000000">
              <a:alpha val="8000"/>
            </a:srgbClr>
          </a:solidFill>
          <a:ln/>
        </p:spPr>
      </p:sp>
      <p:sp>
        <p:nvSpPr>
          <p:cNvPr id="13" name="Text 11"/>
          <p:cNvSpPr/>
          <p:nvPr/>
        </p:nvSpPr>
        <p:spPr>
          <a:xfrm>
            <a:off x="619125" y="1266825"/>
            <a:ext cx="2174974" cy="184696"/>
          </a:xfrm>
          <a:prstGeom prst="rect">
            <a:avLst/>
          </a:prstGeom>
          <a:noFill/>
          <a:ln/>
        </p:spPr>
        <p:txBody>
          <a:bodyPr wrap="none" lIns="0" tIns="0" rIns="0" bIns="0" rtlCol="0" anchor="t"/>
          <a:lstStyle/>
          <a:p>
            <a:pPr algn="l" indent="0" marL="0">
              <a:lnSpc>
                <a:spcPct val="130000"/>
              </a:lnSpc>
              <a:buNone/>
            </a:pPr>
            <a:r>
              <a:rPr lang="en-US" sz="900" b="1" dirty="0">
                <a:solidFill>
                  <a:srgbClr val="2B4150"/>
                </a:solidFill>
                <a:latin typeface="Source Sans 3 Bold" pitchFamily="34" charset="0"/>
                <a:ea typeface="Source Sans 3 Bold" pitchFamily="34" charset="-122"/>
                <a:cs typeface="Source Sans 3 Bold" pitchFamily="34" charset="-120"/>
              </a:rPr>
              <a:t>Feature</a:t>
            </a:r>
            <a:endParaRPr lang="en-US" sz="900" dirty="0"/>
          </a:p>
        </p:txBody>
      </p:sp>
      <p:sp>
        <p:nvSpPr>
          <p:cNvPr id="14" name="Text 12"/>
          <p:cNvSpPr/>
          <p:nvPr/>
        </p:nvSpPr>
        <p:spPr>
          <a:xfrm>
            <a:off x="2573238" y="1266825"/>
            <a:ext cx="1767855" cy="184696"/>
          </a:xfrm>
          <a:prstGeom prst="rect">
            <a:avLst/>
          </a:prstGeom>
          <a:noFill/>
          <a:ln/>
        </p:spPr>
        <p:txBody>
          <a:bodyPr wrap="none" lIns="0" tIns="0" rIns="0" bIns="0" rtlCol="0" anchor="t"/>
          <a:lstStyle/>
          <a:p>
            <a:pPr algn="l" indent="0" marL="0">
              <a:lnSpc>
                <a:spcPct val="130000"/>
              </a:lnSpc>
              <a:buNone/>
            </a:pPr>
            <a:r>
              <a:rPr lang="en-US" sz="900" b="1" dirty="0">
                <a:solidFill>
                  <a:srgbClr val="2B4150"/>
                </a:solidFill>
                <a:latin typeface="Source Sans 3 Bold" pitchFamily="34" charset="0"/>
                <a:ea typeface="Source Sans 3 Bold" pitchFamily="34" charset="-122"/>
                <a:cs typeface="Source Sans 3 Bold" pitchFamily="34" charset="-120"/>
              </a:rPr>
              <a:t>NLP-Based</a:t>
            </a:r>
            <a:endParaRPr lang="en-US" sz="900" dirty="0"/>
          </a:p>
        </p:txBody>
      </p:sp>
      <p:sp>
        <p:nvSpPr>
          <p:cNvPr id="15" name="Text 13"/>
          <p:cNvSpPr/>
          <p:nvPr/>
        </p:nvSpPr>
        <p:spPr>
          <a:xfrm>
            <a:off x="4120232" y="1266825"/>
            <a:ext cx="2500685" cy="184696"/>
          </a:xfrm>
          <a:prstGeom prst="rect">
            <a:avLst/>
          </a:prstGeom>
          <a:noFill/>
          <a:ln/>
        </p:spPr>
        <p:txBody>
          <a:bodyPr wrap="none" lIns="0" tIns="0" rIns="0" bIns="0" rtlCol="0" anchor="t"/>
          <a:lstStyle/>
          <a:p>
            <a:pPr algn="l" indent="0" marL="0">
              <a:lnSpc>
                <a:spcPct val="130000"/>
              </a:lnSpc>
              <a:buNone/>
            </a:pPr>
            <a:r>
              <a:rPr lang="en-US" sz="900" b="1" dirty="0">
                <a:solidFill>
                  <a:srgbClr val="2B4150"/>
                </a:solidFill>
                <a:latin typeface="Source Sans 3 Bold" pitchFamily="34" charset="0"/>
                <a:ea typeface="Source Sans 3 Bold" pitchFamily="34" charset="-122"/>
                <a:cs typeface="Source Sans 3 Bold" pitchFamily="34" charset="-120"/>
              </a:rPr>
              <a:t>Transformer-Based</a:t>
            </a:r>
            <a:endParaRPr lang="en-US" sz="900" dirty="0"/>
          </a:p>
        </p:txBody>
      </p:sp>
      <p:sp>
        <p:nvSpPr>
          <p:cNvPr id="16" name="Text 14"/>
          <p:cNvSpPr/>
          <p:nvPr/>
        </p:nvSpPr>
        <p:spPr>
          <a:xfrm>
            <a:off x="6400056" y="1266825"/>
            <a:ext cx="2582094" cy="184696"/>
          </a:xfrm>
          <a:prstGeom prst="rect">
            <a:avLst/>
          </a:prstGeom>
          <a:noFill/>
          <a:ln/>
        </p:spPr>
        <p:txBody>
          <a:bodyPr wrap="none" lIns="0" tIns="0" rIns="0" bIns="0" rtlCol="0" anchor="t"/>
          <a:lstStyle/>
          <a:p>
            <a:pPr algn="l" indent="0" marL="0">
              <a:lnSpc>
                <a:spcPct val="130000"/>
              </a:lnSpc>
              <a:buNone/>
            </a:pPr>
            <a:r>
              <a:rPr lang="en-US" sz="900" b="1" dirty="0">
                <a:solidFill>
                  <a:srgbClr val="2B4150"/>
                </a:solidFill>
                <a:latin typeface="Source Sans 3 Bold" pitchFamily="34" charset="0"/>
                <a:ea typeface="Source Sans 3 Bold" pitchFamily="34" charset="-122"/>
                <a:cs typeface="Source Sans 3 Bold" pitchFamily="34" charset="-120"/>
              </a:rPr>
              <a:t>Online Q Bank</a:t>
            </a:r>
            <a:endParaRPr lang="en-US" sz="900" dirty="0"/>
          </a:p>
        </p:txBody>
      </p:sp>
      <p:sp>
        <p:nvSpPr>
          <p:cNvPr id="17" name="Text 15"/>
          <p:cNvSpPr/>
          <p:nvPr/>
        </p:nvSpPr>
        <p:spPr>
          <a:xfrm>
            <a:off x="619125" y="1600944"/>
            <a:ext cx="2174974" cy="184696"/>
          </a:xfrm>
          <a:prstGeom prst="rect">
            <a:avLst/>
          </a:prstGeom>
          <a:noFill/>
          <a:ln/>
        </p:spPr>
        <p:txBody>
          <a:bodyPr wrap="none" lIns="0" tIns="0" rIns="0" bIns="0" rtlCol="0" anchor="t"/>
          <a:lstStyle/>
          <a:p>
            <a:pPr algn="l" indent="0" marL="0">
              <a:lnSpc>
                <a:spcPct val="130000"/>
              </a:lnSpc>
              <a:buNone/>
            </a:pPr>
            <a:r>
              <a:rPr lang="en-US" sz="900" dirty="0">
                <a:solidFill>
                  <a:srgbClr val="2B4150"/>
                </a:solidFill>
                <a:latin typeface="Source Sans 3" pitchFamily="34" charset="0"/>
                <a:ea typeface="Source Sans 3" pitchFamily="34" charset="-122"/>
                <a:cs typeface="Source Sans 3" pitchFamily="34" charset="-120"/>
              </a:rPr>
              <a:t>Automatic Generation</a:t>
            </a:r>
            <a:endParaRPr lang="en-US" sz="900" dirty="0"/>
          </a:p>
        </p:txBody>
      </p:sp>
      <p:sp>
        <p:nvSpPr>
          <p:cNvPr id="18" name="Text 16"/>
          <p:cNvSpPr/>
          <p:nvPr/>
        </p:nvSpPr>
        <p:spPr>
          <a:xfrm>
            <a:off x="2573238" y="1600944"/>
            <a:ext cx="1767855" cy="184696"/>
          </a:xfrm>
          <a:prstGeom prst="rect">
            <a:avLst/>
          </a:prstGeom>
          <a:noFill/>
          <a:ln/>
        </p:spPr>
        <p:txBody>
          <a:bodyPr wrap="none" lIns="0" tIns="0" rIns="0" bIns="0" rtlCol="0" anchor="t"/>
          <a:lstStyle/>
          <a:p>
            <a:pPr algn="l" indent="0" marL="0">
              <a:lnSpc>
                <a:spcPct val="130000"/>
              </a:lnSpc>
              <a:buNone/>
            </a:pPr>
            <a:r>
              <a:rPr lang="en-US" sz="900" dirty="0">
                <a:solidFill>
                  <a:srgbClr val="2B4150"/>
                </a:solidFill>
                <a:latin typeface="Source Sans 3" pitchFamily="34" charset="0"/>
                <a:ea typeface="Source Sans 3" pitchFamily="34" charset="-122"/>
                <a:cs typeface="Source Sans 3" pitchFamily="34" charset="-120"/>
              </a:rPr>
              <a:t>Yes</a:t>
            </a:r>
            <a:endParaRPr lang="en-US" sz="900" dirty="0"/>
          </a:p>
        </p:txBody>
      </p:sp>
      <p:sp>
        <p:nvSpPr>
          <p:cNvPr id="19" name="Text 17"/>
          <p:cNvSpPr/>
          <p:nvPr/>
        </p:nvSpPr>
        <p:spPr>
          <a:xfrm>
            <a:off x="4120232" y="1600944"/>
            <a:ext cx="2500685" cy="184696"/>
          </a:xfrm>
          <a:prstGeom prst="rect">
            <a:avLst/>
          </a:prstGeom>
          <a:noFill/>
          <a:ln/>
        </p:spPr>
        <p:txBody>
          <a:bodyPr wrap="none" lIns="0" tIns="0" rIns="0" bIns="0" rtlCol="0" anchor="t"/>
          <a:lstStyle/>
          <a:p>
            <a:pPr algn="l" indent="0" marL="0">
              <a:lnSpc>
                <a:spcPct val="130000"/>
              </a:lnSpc>
              <a:buNone/>
            </a:pPr>
            <a:r>
              <a:rPr lang="en-US" sz="900" dirty="0">
                <a:solidFill>
                  <a:srgbClr val="2B4150"/>
                </a:solidFill>
                <a:latin typeface="Source Sans 3" pitchFamily="34" charset="0"/>
                <a:ea typeface="Source Sans 3" pitchFamily="34" charset="-122"/>
                <a:cs typeface="Source Sans 3" pitchFamily="34" charset="-120"/>
              </a:rPr>
              <a:t>Yes</a:t>
            </a:r>
            <a:endParaRPr lang="en-US" sz="900" dirty="0"/>
          </a:p>
        </p:txBody>
      </p:sp>
      <p:sp>
        <p:nvSpPr>
          <p:cNvPr id="20" name="Text 18"/>
          <p:cNvSpPr/>
          <p:nvPr/>
        </p:nvSpPr>
        <p:spPr>
          <a:xfrm>
            <a:off x="6400056" y="1600944"/>
            <a:ext cx="2582094" cy="184696"/>
          </a:xfrm>
          <a:prstGeom prst="rect">
            <a:avLst/>
          </a:prstGeom>
          <a:noFill/>
          <a:ln/>
        </p:spPr>
        <p:txBody>
          <a:bodyPr wrap="none" lIns="0" tIns="0" rIns="0" bIns="0" rtlCol="0" anchor="t"/>
          <a:lstStyle/>
          <a:p>
            <a:pPr algn="l" indent="0" marL="0">
              <a:lnSpc>
                <a:spcPct val="130000"/>
              </a:lnSpc>
              <a:buNone/>
            </a:pPr>
            <a:r>
              <a:rPr lang="en-US" sz="900" dirty="0">
                <a:solidFill>
                  <a:srgbClr val="2B4150"/>
                </a:solidFill>
                <a:latin typeface="Source Sans 3" pitchFamily="34" charset="0"/>
                <a:ea typeface="Source Sans 3" pitchFamily="34" charset="-122"/>
                <a:cs typeface="Source Sans 3" pitchFamily="34" charset="-120"/>
              </a:rPr>
              <a:t>Limited/No</a:t>
            </a:r>
            <a:endParaRPr lang="en-US" sz="900" dirty="0"/>
          </a:p>
        </p:txBody>
      </p:sp>
      <p:sp>
        <p:nvSpPr>
          <p:cNvPr id="21" name="Text 19"/>
          <p:cNvSpPr/>
          <p:nvPr/>
        </p:nvSpPr>
        <p:spPr>
          <a:xfrm>
            <a:off x="619125" y="1935063"/>
            <a:ext cx="2174974" cy="184696"/>
          </a:xfrm>
          <a:prstGeom prst="rect">
            <a:avLst/>
          </a:prstGeom>
          <a:noFill/>
          <a:ln/>
        </p:spPr>
        <p:txBody>
          <a:bodyPr wrap="none" lIns="0" tIns="0" rIns="0" bIns="0" rtlCol="0" anchor="t"/>
          <a:lstStyle/>
          <a:p>
            <a:pPr algn="l" indent="0" marL="0">
              <a:lnSpc>
                <a:spcPct val="130000"/>
              </a:lnSpc>
              <a:buNone/>
            </a:pPr>
            <a:r>
              <a:rPr lang="en-US" sz="900" dirty="0">
                <a:solidFill>
                  <a:srgbClr val="2B4150"/>
                </a:solidFill>
                <a:latin typeface="Source Sans 3" pitchFamily="34" charset="0"/>
                <a:ea typeface="Source Sans 3" pitchFamily="34" charset="-122"/>
                <a:cs typeface="Source Sans 3" pitchFamily="34" charset="-120"/>
              </a:rPr>
              <a:t>NLP Processing</a:t>
            </a:r>
            <a:endParaRPr lang="en-US" sz="900" dirty="0"/>
          </a:p>
        </p:txBody>
      </p:sp>
      <p:sp>
        <p:nvSpPr>
          <p:cNvPr id="22" name="Text 20"/>
          <p:cNvSpPr/>
          <p:nvPr/>
        </p:nvSpPr>
        <p:spPr>
          <a:xfrm>
            <a:off x="2573238" y="1935063"/>
            <a:ext cx="1767855" cy="184696"/>
          </a:xfrm>
          <a:prstGeom prst="rect">
            <a:avLst/>
          </a:prstGeom>
          <a:noFill/>
          <a:ln/>
        </p:spPr>
        <p:txBody>
          <a:bodyPr wrap="none" lIns="0" tIns="0" rIns="0" bIns="0" rtlCol="0" anchor="t"/>
          <a:lstStyle/>
          <a:p>
            <a:pPr algn="l" indent="0" marL="0">
              <a:lnSpc>
                <a:spcPct val="130000"/>
              </a:lnSpc>
              <a:buNone/>
            </a:pPr>
            <a:r>
              <a:rPr lang="en-US" sz="900" dirty="0">
                <a:solidFill>
                  <a:srgbClr val="2B4150"/>
                </a:solidFill>
                <a:latin typeface="Source Sans 3" pitchFamily="34" charset="0"/>
                <a:ea typeface="Source Sans 3" pitchFamily="34" charset="-122"/>
                <a:cs typeface="Source Sans 3" pitchFamily="34" charset="-120"/>
              </a:rPr>
              <a:t>Yes</a:t>
            </a:r>
            <a:endParaRPr lang="en-US" sz="900" dirty="0"/>
          </a:p>
        </p:txBody>
      </p:sp>
      <p:sp>
        <p:nvSpPr>
          <p:cNvPr id="23" name="Text 21"/>
          <p:cNvSpPr/>
          <p:nvPr/>
        </p:nvSpPr>
        <p:spPr>
          <a:xfrm>
            <a:off x="4120232" y="1935063"/>
            <a:ext cx="2500685" cy="184696"/>
          </a:xfrm>
          <a:prstGeom prst="rect">
            <a:avLst/>
          </a:prstGeom>
          <a:noFill/>
          <a:ln/>
        </p:spPr>
        <p:txBody>
          <a:bodyPr wrap="none" lIns="0" tIns="0" rIns="0" bIns="0" rtlCol="0" anchor="t"/>
          <a:lstStyle/>
          <a:p>
            <a:pPr algn="l" indent="0" marL="0">
              <a:lnSpc>
                <a:spcPct val="130000"/>
              </a:lnSpc>
              <a:buNone/>
            </a:pPr>
            <a:r>
              <a:rPr lang="en-US" sz="900" dirty="0">
                <a:solidFill>
                  <a:srgbClr val="2B4150"/>
                </a:solidFill>
                <a:latin typeface="Source Sans 3" pitchFamily="34" charset="0"/>
                <a:ea typeface="Source Sans 3" pitchFamily="34" charset="-122"/>
                <a:cs typeface="Source Sans 3" pitchFamily="34" charset="-120"/>
              </a:rPr>
              <a:t>Yes</a:t>
            </a:r>
            <a:endParaRPr lang="en-US" sz="900" dirty="0"/>
          </a:p>
        </p:txBody>
      </p:sp>
      <p:sp>
        <p:nvSpPr>
          <p:cNvPr id="24" name="Text 22"/>
          <p:cNvSpPr/>
          <p:nvPr/>
        </p:nvSpPr>
        <p:spPr>
          <a:xfrm>
            <a:off x="6400056" y="1935063"/>
            <a:ext cx="2582094" cy="184696"/>
          </a:xfrm>
          <a:prstGeom prst="rect">
            <a:avLst/>
          </a:prstGeom>
          <a:noFill/>
          <a:ln/>
        </p:spPr>
        <p:txBody>
          <a:bodyPr wrap="none" lIns="0" tIns="0" rIns="0" bIns="0" rtlCol="0" anchor="t"/>
          <a:lstStyle/>
          <a:p>
            <a:pPr algn="l" indent="0" marL="0">
              <a:lnSpc>
                <a:spcPct val="130000"/>
              </a:lnSpc>
              <a:buNone/>
            </a:pPr>
            <a:r>
              <a:rPr lang="en-US" sz="900" dirty="0">
                <a:solidFill>
                  <a:srgbClr val="2B4150"/>
                </a:solidFill>
                <a:latin typeface="Source Sans 3" pitchFamily="34" charset="0"/>
                <a:ea typeface="Source Sans 3" pitchFamily="34" charset="-122"/>
                <a:cs typeface="Source Sans 3" pitchFamily="34" charset="-120"/>
              </a:rPr>
              <a:t>Limited</a:t>
            </a:r>
            <a:endParaRPr lang="en-US" sz="900" dirty="0"/>
          </a:p>
        </p:txBody>
      </p:sp>
      <p:sp>
        <p:nvSpPr>
          <p:cNvPr id="25" name="Text 23"/>
          <p:cNvSpPr/>
          <p:nvPr/>
        </p:nvSpPr>
        <p:spPr>
          <a:xfrm>
            <a:off x="619125" y="2269182"/>
            <a:ext cx="2174974" cy="184696"/>
          </a:xfrm>
          <a:prstGeom prst="rect">
            <a:avLst/>
          </a:prstGeom>
          <a:noFill/>
          <a:ln/>
        </p:spPr>
        <p:txBody>
          <a:bodyPr wrap="none" lIns="0" tIns="0" rIns="0" bIns="0" rtlCol="0" anchor="t"/>
          <a:lstStyle/>
          <a:p>
            <a:pPr algn="l" indent="0" marL="0">
              <a:lnSpc>
                <a:spcPct val="130000"/>
              </a:lnSpc>
              <a:buNone/>
            </a:pPr>
            <a:r>
              <a:rPr lang="en-US" sz="900" dirty="0">
                <a:solidFill>
                  <a:srgbClr val="2B4150"/>
                </a:solidFill>
                <a:latin typeface="Source Sans 3" pitchFamily="34" charset="0"/>
                <a:ea typeface="Source Sans 3" pitchFamily="34" charset="-122"/>
                <a:cs typeface="Source Sans 3" pitchFamily="34" charset="-120"/>
              </a:rPr>
              <a:t>Context Understanding</a:t>
            </a:r>
            <a:endParaRPr lang="en-US" sz="900" dirty="0"/>
          </a:p>
        </p:txBody>
      </p:sp>
      <p:sp>
        <p:nvSpPr>
          <p:cNvPr id="26" name="Text 24"/>
          <p:cNvSpPr/>
          <p:nvPr/>
        </p:nvSpPr>
        <p:spPr>
          <a:xfrm>
            <a:off x="2573238" y="2269182"/>
            <a:ext cx="1767855" cy="184696"/>
          </a:xfrm>
          <a:prstGeom prst="rect">
            <a:avLst/>
          </a:prstGeom>
          <a:noFill/>
          <a:ln/>
        </p:spPr>
        <p:txBody>
          <a:bodyPr wrap="none" lIns="0" tIns="0" rIns="0" bIns="0" rtlCol="0" anchor="t"/>
          <a:lstStyle/>
          <a:p>
            <a:pPr algn="l" indent="0" marL="0">
              <a:lnSpc>
                <a:spcPct val="130000"/>
              </a:lnSpc>
              <a:buNone/>
            </a:pPr>
            <a:r>
              <a:rPr lang="en-US" sz="900" dirty="0">
                <a:solidFill>
                  <a:srgbClr val="2B4150"/>
                </a:solidFill>
                <a:latin typeface="Source Sans 3" pitchFamily="34" charset="0"/>
                <a:ea typeface="Source Sans 3" pitchFamily="34" charset="-122"/>
                <a:cs typeface="Source Sans 3" pitchFamily="34" charset="-120"/>
              </a:rPr>
              <a:t>Medium</a:t>
            </a:r>
            <a:endParaRPr lang="en-US" sz="900" dirty="0"/>
          </a:p>
        </p:txBody>
      </p:sp>
      <p:sp>
        <p:nvSpPr>
          <p:cNvPr id="27" name="Text 25"/>
          <p:cNvSpPr/>
          <p:nvPr/>
        </p:nvSpPr>
        <p:spPr>
          <a:xfrm>
            <a:off x="4120232" y="2269182"/>
            <a:ext cx="2500685" cy="184696"/>
          </a:xfrm>
          <a:prstGeom prst="rect">
            <a:avLst/>
          </a:prstGeom>
          <a:noFill/>
          <a:ln/>
        </p:spPr>
        <p:txBody>
          <a:bodyPr wrap="none" lIns="0" tIns="0" rIns="0" bIns="0" rtlCol="0" anchor="t"/>
          <a:lstStyle/>
          <a:p>
            <a:pPr algn="l" indent="0" marL="0">
              <a:lnSpc>
                <a:spcPct val="130000"/>
              </a:lnSpc>
              <a:buNone/>
            </a:pPr>
            <a:r>
              <a:rPr lang="en-US" sz="900" dirty="0">
                <a:solidFill>
                  <a:srgbClr val="2B4150"/>
                </a:solidFill>
                <a:latin typeface="Source Sans 3" pitchFamily="34" charset="0"/>
                <a:ea typeface="Source Sans 3" pitchFamily="34" charset="-122"/>
                <a:cs typeface="Source Sans 3" pitchFamily="34" charset="-120"/>
              </a:rPr>
              <a:t>High</a:t>
            </a:r>
            <a:endParaRPr lang="en-US" sz="900" dirty="0"/>
          </a:p>
        </p:txBody>
      </p:sp>
      <p:sp>
        <p:nvSpPr>
          <p:cNvPr id="28" name="Text 26"/>
          <p:cNvSpPr/>
          <p:nvPr/>
        </p:nvSpPr>
        <p:spPr>
          <a:xfrm>
            <a:off x="6400056" y="2269182"/>
            <a:ext cx="2582094" cy="184696"/>
          </a:xfrm>
          <a:prstGeom prst="rect">
            <a:avLst/>
          </a:prstGeom>
          <a:noFill/>
          <a:ln/>
        </p:spPr>
        <p:txBody>
          <a:bodyPr wrap="none" lIns="0" tIns="0" rIns="0" bIns="0" rtlCol="0" anchor="t"/>
          <a:lstStyle/>
          <a:p>
            <a:pPr algn="l" indent="0" marL="0">
              <a:lnSpc>
                <a:spcPct val="130000"/>
              </a:lnSpc>
              <a:buNone/>
            </a:pPr>
            <a:r>
              <a:rPr lang="en-US" sz="900" dirty="0">
                <a:solidFill>
                  <a:srgbClr val="2B4150"/>
                </a:solidFill>
                <a:latin typeface="Source Sans 3" pitchFamily="34" charset="0"/>
                <a:ea typeface="Source Sans 3" pitchFamily="34" charset="-122"/>
                <a:cs typeface="Source Sans 3" pitchFamily="34" charset="-120"/>
              </a:rPr>
              <a:t>Low</a:t>
            </a:r>
            <a:endParaRPr lang="en-US" sz="900" dirty="0"/>
          </a:p>
        </p:txBody>
      </p:sp>
      <p:sp>
        <p:nvSpPr>
          <p:cNvPr id="29" name="Text 27"/>
          <p:cNvSpPr/>
          <p:nvPr/>
        </p:nvSpPr>
        <p:spPr>
          <a:xfrm>
            <a:off x="619125" y="2603302"/>
            <a:ext cx="2174974" cy="184696"/>
          </a:xfrm>
          <a:prstGeom prst="rect">
            <a:avLst/>
          </a:prstGeom>
          <a:noFill/>
          <a:ln/>
        </p:spPr>
        <p:txBody>
          <a:bodyPr wrap="none" lIns="0" tIns="0" rIns="0" bIns="0" rtlCol="0" anchor="t"/>
          <a:lstStyle/>
          <a:p>
            <a:pPr algn="l" indent="0" marL="0">
              <a:lnSpc>
                <a:spcPct val="130000"/>
              </a:lnSpc>
              <a:buNone/>
            </a:pPr>
            <a:r>
              <a:rPr lang="en-US" sz="900" dirty="0">
                <a:solidFill>
                  <a:srgbClr val="2B4150"/>
                </a:solidFill>
                <a:latin typeface="Source Sans 3" pitchFamily="34" charset="0"/>
                <a:ea typeface="Source Sans 3" pitchFamily="34" charset="-122"/>
                <a:cs typeface="Source Sans 3" pitchFamily="34" charset="-120"/>
              </a:rPr>
              <a:t>Topic Classification</a:t>
            </a:r>
            <a:endParaRPr lang="en-US" sz="900" dirty="0"/>
          </a:p>
        </p:txBody>
      </p:sp>
      <p:sp>
        <p:nvSpPr>
          <p:cNvPr id="30" name="Text 28"/>
          <p:cNvSpPr/>
          <p:nvPr/>
        </p:nvSpPr>
        <p:spPr>
          <a:xfrm>
            <a:off x="2573238" y="2603302"/>
            <a:ext cx="1767855" cy="184696"/>
          </a:xfrm>
          <a:prstGeom prst="rect">
            <a:avLst/>
          </a:prstGeom>
          <a:noFill/>
          <a:ln/>
        </p:spPr>
        <p:txBody>
          <a:bodyPr wrap="none" lIns="0" tIns="0" rIns="0" bIns="0" rtlCol="0" anchor="t"/>
          <a:lstStyle/>
          <a:p>
            <a:pPr algn="l" indent="0" marL="0">
              <a:lnSpc>
                <a:spcPct val="130000"/>
              </a:lnSpc>
              <a:buNone/>
            </a:pPr>
            <a:r>
              <a:rPr lang="en-US" sz="900" dirty="0">
                <a:solidFill>
                  <a:srgbClr val="2B4150"/>
                </a:solidFill>
                <a:latin typeface="Source Sans 3" pitchFamily="34" charset="0"/>
                <a:ea typeface="Source Sans 3" pitchFamily="34" charset="-122"/>
                <a:cs typeface="Source Sans 3" pitchFamily="34" charset="-120"/>
              </a:rPr>
              <a:t>Limited</a:t>
            </a:r>
            <a:endParaRPr lang="en-US" sz="900" dirty="0"/>
          </a:p>
        </p:txBody>
      </p:sp>
      <p:sp>
        <p:nvSpPr>
          <p:cNvPr id="31" name="Text 29"/>
          <p:cNvSpPr/>
          <p:nvPr/>
        </p:nvSpPr>
        <p:spPr>
          <a:xfrm>
            <a:off x="4120232" y="2603302"/>
            <a:ext cx="2500685" cy="184696"/>
          </a:xfrm>
          <a:prstGeom prst="rect">
            <a:avLst/>
          </a:prstGeom>
          <a:noFill/>
          <a:ln/>
        </p:spPr>
        <p:txBody>
          <a:bodyPr wrap="none" lIns="0" tIns="0" rIns="0" bIns="0" rtlCol="0" anchor="t"/>
          <a:lstStyle/>
          <a:p>
            <a:pPr algn="l" indent="0" marL="0">
              <a:lnSpc>
                <a:spcPct val="130000"/>
              </a:lnSpc>
              <a:buNone/>
            </a:pPr>
            <a:r>
              <a:rPr lang="en-US" sz="900" dirty="0">
                <a:solidFill>
                  <a:srgbClr val="2B4150"/>
                </a:solidFill>
                <a:latin typeface="Source Sans 3" pitchFamily="34" charset="0"/>
                <a:ea typeface="Source Sans 3" pitchFamily="34" charset="-122"/>
                <a:cs typeface="Source Sans 3" pitchFamily="34" charset="-120"/>
              </a:rPr>
              <a:t>Possible</a:t>
            </a:r>
            <a:endParaRPr lang="en-US" sz="900" dirty="0"/>
          </a:p>
        </p:txBody>
      </p:sp>
      <p:sp>
        <p:nvSpPr>
          <p:cNvPr id="32" name="Text 30"/>
          <p:cNvSpPr/>
          <p:nvPr/>
        </p:nvSpPr>
        <p:spPr>
          <a:xfrm>
            <a:off x="6400056" y="2603302"/>
            <a:ext cx="2582094" cy="184696"/>
          </a:xfrm>
          <a:prstGeom prst="rect">
            <a:avLst/>
          </a:prstGeom>
          <a:noFill/>
          <a:ln/>
        </p:spPr>
        <p:txBody>
          <a:bodyPr wrap="none" lIns="0" tIns="0" rIns="0" bIns="0" rtlCol="0" anchor="t"/>
          <a:lstStyle/>
          <a:p>
            <a:pPr algn="l" indent="0" marL="0">
              <a:lnSpc>
                <a:spcPct val="130000"/>
              </a:lnSpc>
              <a:buNone/>
            </a:pPr>
            <a:r>
              <a:rPr lang="en-US" sz="900" dirty="0">
                <a:solidFill>
                  <a:srgbClr val="2B4150"/>
                </a:solidFill>
                <a:latin typeface="Source Sans 3" pitchFamily="34" charset="0"/>
                <a:ea typeface="Source Sans 3" pitchFamily="34" charset="-122"/>
                <a:cs typeface="Source Sans 3" pitchFamily="34" charset="-120"/>
              </a:rPr>
              <a:t>Usually Manual</a:t>
            </a:r>
            <a:endParaRPr lang="en-US" sz="900" dirty="0"/>
          </a:p>
        </p:txBody>
      </p:sp>
      <p:sp>
        <p:nvSpPr>
          <p:cNvPr id="33" name="Text 31"/>
          <p:cNvSpPr/>
          <p:nvPr/>
        </p:nvSpPr>
        <p:spPr>
          <a:xfrm>
            <a:off x="619125" y="2937421"/>
            <a:ext cx="2174974" cy="184696"/>
          </a:xfrm>
          <a:prstGeom prst="rect">
            <a:avLst/>
          </a:prstGeom>
          <a:noFill/>
          <a:ln/>
        </p:spPr>
        <p:txBody>
          <a:bodyPr wrap="none" lIns="0" tIns="0" rIns="0" bIns="0" rtlCol="0" anchor="t"/>
          <a:lstStyle/>
          <a:p>
            <a:pPr algn="l" indent="0" marL="0">
              <a:lnSpc>
                <a:spcPct val="130000"/>
              </a:lnSpc>
              <a:buNone/>
            </a:pPr>
            <a:r>
              <a:rPr lang="en-US" sz="900" dirty="0">
                <a:solidFill>
                  <a:srgbClr val="2B4150"/>
                </a:solidFill>
                <a:latin typeface="Source Sans 3" pitchFamily="34" charset="0"/>
                <a:ea typeface="Source Sans 3" pitchFamily="34" charset="-122"/>
                <a:cs typeface="Source Sans 3" pitchFamily="34" charset="-120"/>
              </a:rPr>
              <a:t>Difficulty Estimation</a:t>
            </a:r>
            <a:endParaRPr lang="en-US" sz="900" dirty="0"/>
          </a:p>
        </p:txBody>
      </p:sp>
      <p:sp>
        <p:nvSpPr>
          <p:cNvPr id="34" name="Text 32"/>
          <p:cNvSpPr/>
          <p:nvPr/>
        </p:nvSpPr>
        <p:spPr>
          <a:xfrm>
            <a:off x="2573238" y="2937421"/>
            <a:ext cx="1767855" cy="184696"/>
          </a:xfrm>
          <a:prstGeom prst="rect">
            <a:avLst/>
          </a:prstGeom>
          <a:noFill/>
          <a:ln/>
        </p:spPr>
        <p:txBody>
          <a:bodyPr wrap="none" lIns="0" tIns="0" rIns="0" bIns="0" rtlCol="0" anchor="t"/>
          <a:lstStyle/>
          <a:p>
            <a:pPr algn="l" indent="0" marL="0">
              <a:lnSpc>
                <a:spcPct val="130000"/>
              </a:lnSpc>
              <a:buNone/>
            </a:pPr>
            <a:r>
              <a:rPr lang="en-US" sz="900" dirty="0">
                <a:solidFill>
                  <a:srgbClr val="2B4150"/>
                </a:solidFill>
                <a:latin typeface="Source Sans 3" pitchFamily="34" charset="0"/>
                <a:ea typeface="Source Sans 3" pitchFamily="34" charset="-122"/>
                <a:cs typeface="Source Sans 3" pitchFamily="34" charset="-120"/>
              </a:rPr>
              <a:t>Limited</a:t>
            </a:r>
            <a:endParaRPr lang="en-US" sz="900" dirty="0"/>
          </a:p>
        </p:txBody>
      </p:sp>
      <p:sp>
        <p:nvSpPr>
          <p:cNvPr id="35" name="Text 33"/>
          <p:cNvSpPr/>
          <p:nvPr/>
        </p:nvSpPr>
        <p:spPr>
          <a:xfrm>
            <a:off x="4120232" y="2937421"/>
            <a:ext cx="2500685" cy="184696"/>
          </a:xfrm>
          <a:prstGeom prst="rect">
            <a:avLst/>
          </a:prstGeom>
          <a:noFill/>
          <a:ln/>
        </p:spPr>
        <p:txBody>
          <a:bodyPr wrap="none" lIns="0" tIns="0" rIns="0" bIns="0" rtlCol="0" anchor="t"/>
          <a:lstStyle/>
          <a:p>
            <a:pPr algn="l" indent="0" marL="0">
              <a:lnSpc>
                <a:spcPct val="130000"/>
              </a:lnSpc>
              <a:buNone/>
            </a:pPr>
            <a:r>
              <a:rPr lang="en-US" sz="900" dirty="0">
                <a:solidFill>
                  <a:srgbClr val="2B4150"/>
                </a:solidFill>
                <a:latin typeface="Source Sans 3" pitchFamily="34" charset="0"/>
                <a:ea typeface="Source Sans 3" pitchFamily="34" charset="-122"/>
                <a:cs typeface="Source Sans 3" pitchFamily="34" charset="-120"/>
              </a:rPr>
              <a:t>Possible</a:t>
            </a:r>
            <a:endParaRPr lang="en-US" sz="900" dirty="0"/>
          </a:p>
        </p:txBody>
      </p:sp>
      <p:sp>
        <p:nvSpPr>
          <p:cNvPr id="36" name="Text 34"/>
          <p:cNvSpPr/>
          <p:nvPr/>
        </p:nvSpPr>
        <p:spPr>
          <a:xfrm>
            <a:off x="6400056" y="2937421"/>
            <a:ext cx="2582094" cy="184696"/>
          </a:xfrm>
          <a:prstGeom prst="rect">
            <a:avLst/>
          </a:prstGeom>
          <a:noFill/>
          <a:ln/>
        </p:spPr>
        <p:txBody>
          <a:bodyPr wrap="none" lIns="0" tIns="0" rIns="0" bIns="0" rtlCol="0" anchor="t"/>
          <a:lstStyle/>
          <a:p>
            <a:pPr algn="l" indent="0" marL="0">
              <a:lnSpc>
                <a:spcPct val="130000"/>
              </a:lnSpc>
              <a:buNone/>
            </a:pPr>
            <a:r>
              <a:rPr lang="en-US" sz="900" dirty="0">
                <a:solidFill>
                  <a:srgbClr val="2B4150"/>
                </a:solidFill>
                <a:latin typeface="Source Sans 3" pitchFamily="34" charset="0"/>
                <a:ea typeface="Source Sans 3" pitchFamily="34" charset="-122"/>
                <a:cs typeface="Source Sans 3" pitchFamily="34" charset="-120"/>
              </a:rPr>
              <a:t>Usually Manual</a:t>
            </a:r>
            <a:endParaRPr lang="en-US" sz="900" dirty="0"/>
          </a:p>
        </p:txBody>
      </p:sp>
      <p:sp>
        <p:nvSpPr>
          <p:cNvPr id="37" name="Text 35"/>
          <p:cNvSpPr/>
          <p:nvPr/>
        </p:nvSpPr>
        <p:spPr>
          <a:xfrm>
            <a:off x="619125" y="3271540"/>
            <a:ext cx="2174974" cy="184696"/>
          </a:xfrm>
          <a:prstGeom prst="rect">
            <a:avLst/>
          </a:prstGeom>
          <a:noFill/>
          <a:ln/>
        </p:spPr>
        <p:txBody>
          <a:bodyPr wrap="none" lIns="0" tIns="0" rIns="0" bIns="0" rtlCol="0" anchor="t"/>
          <a:lstStyle/>
          <a:p>
            <a:pPr algn="l" indent="0" marL="0">
              <a:lnSpc>
                <a:spcPct val="130000"/>
              </a:lnSpc>
              <a:buNone/>
            </a:pPr>
            <a:r>
              <a:rPr lang="en-US" sz="900" dirty="0">
                <a:solidFill>
                  <a:srgbClr val="2B4150"/>
                </a:solidFill>
                <a:latin typeface="Source Sans 3" pitchFamily="34" charset="0"/>
                <a:ea typeface="Source Sans 3" pitchFamily="34" charset="-122"/>
                <a:cs typeface="Source Sans 3" pitchFamily="34" charset="-120"/>
              </a:rPr>
              <a:t>Question Storage</a:t>
            </a:r>
            <a:endParaRPr lang="en-US" sz="900" dirty="0"/>
          </a:p>
        </p:txBody>
      </p:sp>
      <p:sp>
        <p:nvSpPr>
          <p:cNvPr id="38" name="Text 36"/>
          <p:cNvSpPr/>
          <p:nvPr/>
        </p:nvSpPr>
        <p:spPr>
          <a:xfrm>
            <a:off x="2573238" y="3271540"/>
            <a:ext cx="1767855" cy="184696"/>
          </a:xfrm>
          <a:prstGeom prst="rect">
            <a:avLst/>
          </a:prstGeom>
          <a:noFill/>
          <a:ln/>
        </p:spPr>
        <p:txBody>
          <a:bodyPr wrap="none" lIns="0" tIns="0" rIns="0" bIns="0" rtlCol="0" anchor="t"/>
          <a:lstStyle/>
          <a:p>
            <a:pPr algn="l" indent="0" marL="0">
              <a:lnSpc>
                <a:spcPct val="130000"/>
              </a:lnSpc>
              <a:buNone/>
            </a:pPr>
            <a:r>
              <a:rPr lang="en-US" sz="900" dirty="0">
                <a:solidFill>
                  <a:srgbClr val="2B4150"/>
                </a:solidFill>
                <a:latin typeface="Source Sans 3" pitchFamily="34" charset="0"/>
                <a:ea typeface="Source Sans 3" pitchFamily="34" charset="-122"/>
                <a:cs typeface="Source Sans 3" pitchFamily="34" charset="-120"/>
              </a:rPr>
              <a:t>Basic</a:t>
            </a:r>
            <a:endParaRPr lang="en-US" sz="900" dirty="0"/>
          </a:p>
        </p:txBody>
      </p:sp>
      <p:sp>
        <p:nvSpPr>
          <p:cNvPr id="39" name="Text 37"/>
          <p:cNvSpPr/>
          <p:nvPr/>
        </p:nvSpPr>
        <p:spPr>
          <a:xfrm>
            <a:off x="4120232" y="3271540"/>
            <a:ext cx="2500685" cy="184696"/>
          </a:xfrm>
          <a:prstGeom prst="rect">
            <a:avLst/>
          </a:prstGeom>
          <a:noFill/>
          <a:ln/>
        </p:spPr>
        <p:txBody>
          <a:bodyPr wrap="none" lIns="0" tIns="0" rIns="0" bIns="0" rtlCol="0" anchor="t"/>
          <a:lstStyle/>
          <a:p>
            <a:pPr algn="l" indent="0" marL="0">
              <a:lnSpc>
                <a:spcPct val="130000"/>
              </a:lnSpc>
              <a:buNone/>
            </a:pPr>
            <a:r>
              <a:rPr lang="en-US" sz="900" dirty="0">
                <a:solidFill>
                  <a:srgbClr val="2B4150"/>
                </a:solidFill>
                <a:latin typeface="Source Sans 3" pitchFamily="34" charset="0"/>
                <a:ea typeface="Source Sans 3" pitchFamily="34" charset="-122"/>
                <a:cs typeface="Source Sans 3" pitchFamily="34" charset="-120"/>
              </a:rPr>
              <a:t>Depends</a:t>
            </a:r>
            <a:endParaRPr lang="en-US" sz="900" dirty="0"/>
          </a:p>
        </p:txBody>
      </p:sp>
      <p:sp>
        <p:nvSpPr>
          <p:cNvPr id="40" name="Text 38"/>
          <p:cNvSpPr/>
          <p:nvPr/>
        </p:nvSpPr>
        <p:spPr>
          <a:xfrm>
            <a:off x="6400056" y="3271540"/>
            <a:ext cx="2582094" cy="184696"/>
          </a:xfrm>
          <a:prstGeom prst="rect">
            <a:avLst/>
          </a:prstGeom>
          <a:noFill/>
          <a:ln/>
        </p:spPr>
        <p:txBody>
          <a:bodyPr wrap="none" lIns="0" tIns="0" rIns="0" bIns="0" rtlCol="0" anchor="t"/>
          <a:lstStyle/>
          <a:p>
            <a:pPr algn="l" indent="0" marL="0">
              <a:lnSpc>
                <a:spcPct val="130000"/>
              </a:lnSpc>
              <a:buNone/>
            </a:pPr>
            <a:r>
              <a:rPr lang="en-US" sz="900" dirty="0">
                <a:solidFill>
                  <a:srgbClr val="2B4150"/>
                </a:solidFill>
                <a:latin typeface="Source Sans 3" pitchFamily="34" charset="0"/>
                <a:ea typeface="Source Sans 3" pitchFamily="34" charset="-122"/>
                <a:cs typeface="Source Sans 3" pitchFamily="34" charset="-120"/>
              </a:rPr>
              <a:t>Yes</a:t>
            </a:r>
            <a:endParaRPr lang="en-US" sz="900" dirty="0"/>
          </a:p>
        </p:txBody>
      </p:sp>
      <p:sp>
        <p:nvSpPr>
          <p:cNvPr id="41" name="Text 39"/>
          <p:cNvSpPr/>
          <p:nvPr/>
        </p:nvSpPr>
        <p:spPr>
          <a:xfrm>
            <a:off x="619125" y="3605659"/>
            <a:ext cx="2174974" cy="184696"/>
          </a:xfrm>
          <a:prstGeom prst="rect">
            <a:avLst/>
          </a:prstGeom>
          <a:noFill/>
          <a:ln/>
        </p:spPr>
        <p:txBody>
          <a:bodyPr wrap="none" lIns="0" tIns="0" rIns="0" bIns="0" rtlCol="0" anchor="t"/>
          <a:lstStyle/>
          <a:p>
            <a:pPr algn="l" indent="0" marL="0">
              <a:lnSpc>
                <a:spcPct val="130000"/>
              </a:lnSpc>
              <a:buNone/>
            </a:pPr>
            <a:r>
              <a:rPr lang="en-US" sz="900" dirty="0">
                <a:solidFill>
                  <a:srgbClr val="2B4150"/>
                </a:solidFill>
                <a:latin typeface="Source Sans 3" pitchFamily="34" charset="0"/>
                <a:ea typeface="Source Sans 3" pitchFamily="34" charset="-122"/>
                <a:cs typeface="Source Sans 3" pitchFamily="34" charset="-120"/>
              </a:rPr>
              <a:t>Search &amp; Filter</a:t>
            </a:r>
            <a:endParaRPr lang="en-US" sz="900" dirty="0"/>
          </a:p>
        </p:txBody>
      </p:sp>
      <p:sp>
        <p:nvSpPr>
          <p:cNvPr id="42" name="Text 40"/>
          <p:cNvSpPr/>
          <p:nvPr/>
        </p:nvSpPr>
        <p:spPr>
          <a:xfrm>
            <a:off x="2573238" y="3605659"/>
            <a:ext cx="1767855" cy="184696"/>
          </a:xfrm>
          <a:prstGeom prst="rect">
            <a:avLst/>
          </a:prstGeom>
          <a:noFill/>
          <a:ln/>
        </p:spPr>
        <p:txBody>
          <a:bodyPr wrap="none" lIns="0" tIns="0" rIns="0" bIns="0" rtlCol="0" anchor="t"/>
          <a:lstStyle/>
          <a:p>
            <a:pPr algn="l" indent="0" marL="0">
              <a:lnSpc>
                <a:spcPct val="130000"/>
              </a:lnSpc>
              <a:buNone/>
            </a:pPr>
            <a:r>
              <a:rPr lang="en-US" sz="900" dirty="0">
                <a:solidFill>
                  <a:srgbClr val="2B4150"/>
                </a:solidFill>
                <a:latin typeface="Source Sans 3" pitchFamily="34" charset="0"/>
                <a:ea typeface="Source Sans 3" pitchFamily="34" charset="-122"/>
                <a:cs typeface="Source Sans 3" pitchFamily="34" charset="-120"/>
              </a:rPr>
              <a:t>Limited</a:t>
            </a:r>
            <a:endParaRPr lang="en-US" sz="900" dirty="0"/>
          </a:p>
        </p:txBody>
      </p:sp>
      <p:sp>
        <p:nvSpPr>
          <p:cNvPr id="43" name="Text 41"/>
          <p:cNvSpPr/>
          <p:nvPr/>
        </p:nvSpPr>
        <p:spPr>
          <a:xfrm>
            <a:off x="4120232" y="3605659"/>
            <a:ext cx="2500685" cy="184696"/>
          </a:xfrm>
          <a:prstGeom prst="rect">
            <a:avLst/>
          </a:prstGeom>
          <a:noFill/>
          <a:ln/>
        </p:spPr>
        <p:txBody>
          <a:bodyPr wrap="none" lIns="0" tIns="0" rIns="0" bIns="0" rtlCol="0" anchor="t"/>
          <a:lstStyle/>
          <a:p>
            <a:pPr algn="l" indent="0" marL="0">
              <a:lnSpc>
                <a:spcPct val="130000"/>
              </a:lnSpc>
              <a:buNone/>
            </a:pPr>
            <a:r>
              <a:rPr lang="en-US" sz="900" dirty="0">
                <a:solidFill>
                  <a:srgbClr val="2B4150"/>
                </a:solidFill>
                <a:latin typeface="Source Sans 3" pitchFamily="34" charset="0"/>
                <a:ea typeface="Source Sans 3" pitchFamily="34" charset="-122"/>
                <a:cs typeface="Source Sans 3" pitchFamily="34" charset="-120"/>
              </a:rPr>
              <a:t>Depends</a:t>
            </a:r>
            <a:endParaRPr lang="en-US" sz="900" dirty="0"/>
          </a:p>
        </p:txBody>
      </p:sp>
      <p:sp>
        <p:nvSpPr>
          <p:cNvPr id="44" name="Text 42"/>
          <p:cNvSpPr/>
          <p:nvPr/>
        </p:nvSpPr>
        <p:spPr>
          <a:xfrm>
            <a:off x="6400056" y="3605659"/>
            <a:ext cx="2582094" cy="184696"/>
          </a:xfrm>
          <a:prstGeom prst="rect">
            <a:avLst/>
          </a:prstGeom>
          <a:noFill/>
          <a:ln/>
        </p:spPr>
        <p:txBody>
          <a:bodyPr wrap="none" lIns="0" tIns="0" rIns="0" bIns="0" rtlCol="0" anchor="t"/>
          <a:lstStyle/>
          <a:p>
            <a:pPr algn="l" indent="0" marL="0">
              <a:lnSpc>
                <a:spcPct val="130000"/>
              </a:lnSpc>
              <a:buNone/>
            </a:pPr>
            <a:r>
              <a:rPr lang="en-US" sz="900" dirty="0">
                <a:solidFill>
                  <a:srgbClr val="2B4150"/>
                </a:solidFill>
                <a:latin typeface="Source Sans 3" pitchFamily="34" charset="0"/>
                <a:ea typeface="Source Sans 3" pitchFamily="34" charset="-122"/>
                <a:cs typeface="Source Sans 3" pitchFamily="34" charset="-120"/>
              </a:rPr>
              <a:t>Yes</a:t>
            </a:r>
            <a:endParaRPr lang="en-US" sz="900" dirty="0"/>
          </a:p>
        </p:txBody>
      </p:sp>
      <p:sp>
        <p:nvSpPr>
          <p:cNvPr id="45" name="Text 43"/>
          <p:cNvSpPr/>
          <p:nvPr/>
        </p:nvSpPr>
        <p:spPr>
          <a:xfrm>
            <a:off x="619125" y="3939778"/>
            <a:ext cx="2174974" cy="184696"/>
          </a:xfrm>
          <a:prstGeom prst="rect">
            <a:avLst/>
          </a:prstGeom>
          <a:noFill/>
          <a:ln/>
        </p:spPr>
        <p:txBody>
          <a:bodyPr wrap="none" lIns="0" tIns="0" rIns="0" bIns="0" rtlCol="0" anchor="t"/>
          <a:lstStyle/>
          <a:p>
            <a:pPr algn="l" indent="0" marL="0">
              <a:lnSpc>
                <a:spcPct val="130000"/>
              </a:lnSpc>
              <a:buNone/>
            </a:pPr>
            <a:r>
              <a:rPr lang="en-US" sz="900" dirty="0">
                <a:solidFill>
                  <a:srgbClr val="2B4150"/>
                </a:solidFill>
                <a:latin typeface="Source Sans 3" pitchFamily="34" charset="0"/>
                <a:ea typeface="Source Sans 3" pitchFamily="34" charset="-122"/>
                <a:cs typeface="Source Sans 3" pitchFamily="34" charset="-120"/>
              </a:rPr>
              <a:t>Computational Cost</a:t>
            </a:r>
            <a:endParaRPr lang="en-US" sz="900" dirty="0"/>
          </a:p>
        </p:txBody>
      </p:sp>
      <p:sp>
        <p:nvSpPr>
          <p:cNvPr id="46" name="Text 44"/>
          <p:cNvSpPr/>
          <p:nvPr/>
        </p:nvSpPr>
        <p:spPr>
          <a:xfrm>
            <a:off x="2573238" y="3939778"/>
            <a:ext cx="1767855" cy="184696"/>
          </a:xfrm>
          <a:prstGeom prst="rect">
            <a:avLst/>
          </a:prstGeom>
          <a:noFill/>
          <a:ln/>
        </p:spPr>
        <p:txBody>
          <a:bodyPr wrap="none" lIns="0" tIns="0" rIns="0" bIns="0" rtlCol="0" anchor="t"/>
          <a:lstStyle/>
          <a:p>
            <a:pPr algn="l" indent="0" marL="0">
              <a:lnSpc>
                <a:spcPct val="130000"/>
              </a:lnSpc>
              <a:buNone/>
            </a:pPr>
            <a:r>
              <a:rPr lang="en-US" sz="900" dirty="0">
                <a:solidFill>
                  <a:srgbClr val="2B4150"/>
                </a:solidFill>
                <a:latin typeface="Source Sans 3" pitchFamily="34" charset="0"/>
                <a:ea typeface="Source Sans 3" pitchFamily="34" charset="-122"/>
                <a:cs typeface="Source Sans 3" pitchFamily="34" charset="-120"/>
              </a:rPr>
              <a:t>Low/Medium</a:t>
            </a:r>
            <a:endParaRPr lang="en-US" sz="900" dirty="0"/>
          </a:p>
        </p:txBody>
      </p:sp>
      <p:sp>
        <p:nvSpPr>
          <p:cNvPr id="47" name="Text 45"/>
          <p:cNvSpPr/>
          <p:nvPr/>
        </p:nvSpPr>
        <p:spPr>
          <a:xfrm>
            <a:off x="4120232" y="3939778"/>
            <a:ext cx="2500685" cy="184696"/>
          </a:xfrm>
          <a:prstGeom prst="rect">
            <a:avLst/>
          </a:prstGeom>
          <a:noFill/>
          <a:ln/>
        </p:spPr>
        <p:txBody>
          <a:bodyPr wrap="none" lIns="0" tIns="0" rIns="0" bIns="0" rtlCol="0" anchor="t"/>
          <a:lstStyle/>
          <a:p>
            <a:pPr algn="l" indent="0" marL="0">
              <a:lnSpc>
                <a:spcPct val="130000"/>
              </a:lnSpc>
              <a:buNone/>
            </a:pPr>
            <a:r>
              <a:rPr lang="en-US" sz="900" dirty="0">
                <a:solidFill>
                  <a:srgbClr val="2B4150"/>
                </a:solidFill>
                <a:latin typeface="Source Sans 3" pitchFamily="34" charset="0"/>
                <a:ea typeface="Source Sans 3" pitchFamily="34" charset="-122"/>
                <a:cs typeface="Source Sans 3" pitchFamily="34" charset="-120"/>
              </a:rPr>
              <a:t>High</a:t>
            </a:r>
            <a:endParaRPr lang="en-US" sz="900" dirty="0"/>
          </a:p>
        </p:txBody>
      </p:sp>
      <p:sp>
        <p:nvSpPr>
          <p:cNvPr id="48" name="Text 46"/>
          <p:cNvSpPr/>
          <p:nvPr/>
        </p:nvSpPr>
        <p:spPr>
          <a:xfrm>
            <a:off x="6400056" y="3939778"/>
            <a:ext cx="2582094" cy="184696"/>
          </a:xfrm>
          <a:prstGeom prst="rect">
            <a:avLst/>
          </a:prstGeom>
          <a:noFill/>
          <a:ln/>
        </p:spPr>
        <p:txBody>
          <a:bodyPr wrap="none" lIns="0" tIns="0" rIns="0" bIns="0" rtlCol="0" anchor="t"/>
          <a:lstStyle/>
          <a:p>
            <a:pPr algn="l" indent="0" marL="0">
              <a:lnSpc>
                <a:spcPct val="130000"/>
              </a:lnSpc>
              <a:buNone/>
            </a:pPr>
            <a:r>
              <a:rPr lang="en-US" sz="900" dirty="0">
                <a:solidFill>
                  <a:srgbClr val="2B4150"/>
                </a:solidFill>
                <a:latin typeface="Source Sans 3" pitchFamily="34" charset="0"/>
                <a:ea typeface="Source Sans 3" pitchFamily="34" charset="-122"/>
                <a:cs typeface="Source Sans 3" pitchFamily="34" charset="-120"/>
              </a:rPr>
              <a:t>Low</a:t>
            </a:r>
            <a:endParaRPr lang="en-US" sz="900" dirty="0"/>
          </a:p>
        </p:txBody>
      </p:sp>
      <p:sp>
        <p:nvSpPr>
          <p:cNvPr id="49" name="Shape 47"/>
          <p:cNvSpPr/>
          <p:nvPr/>
        </p:nvSpPr>
        <p:spPr>
          <a:xfrm>
            <a:off x="496119" y="4328294"/>
            <a:ext cx="8151763" cy="457795"/>
          </a:xfrm>
          <a:prstGeom prst="roundRect">
            <a:avLst>
              <a:gd name="adj" fmla="val 3874"/>
            </a:avLst>
          </a:prstGeom>
          <a:solidFill>
            <a:srgbClr val="DBE8F0"/>
          </a:solidFill>
          <a:ln/>
        </p:spPr>
      </p:sp>
      <p:pic>
        <p:nvPicPr>
          <p:cNvPr id="50" name="Image 0" descr="preencoded.png">    </p:cNvPr>
          <p:cNvPicPr>
            <a:picLocks noChangeAspect="1"/>
          </p:cNvPicPr>
          <p:nvPr/>
        </p:nvPicPr>
        <p:blipFill>
          <a:blip r:embed="rId1"/>
          <a:stretch>
            <a:fillRect/>
          </a:stretch>
        </p:blipFill>
        <p:spPr>
          <a:xfrm>
            <a:off x="614288" y="4490889"/>
            <a:ext cx="147786" cy="118170"/>
          </a:xfrm>
          <a:prstGeom prst="rect">
            <a:avLst/>
          </a:prstGeom>
        </p:spPr>
      </p:pic>
      <p:sp>
        <p:nvSpPr>
          <p:cNvPr id="51" name="Text 48"/>
          <p:cNvSpPr/>
          <p:nvPr/>
        </p:nvSpPr>
        <p:spPr>
          <a:xfrm>
            <a:off x="880244" y="4470499"/>
            <a:ext cx="8106668" cy="184696"/>
          </a:xfrm>
          <a:prstGeom prst="rect">
            <a:avLst/>
          </a:prstGeom>
          <a:noFill/>
          <a:ln/>
        </p:spPr>
        <p:txBody>
          <a:bodyPr wrap="none" lIns="0" tIns="0" rIns="0" bIns="0" rtlCol="0" anchor="t"/>
          <a:lstStyle/>
          <a:p>
            <a:pPr algn="l" indent="0" marL="0">
              <a:lnSpc>
                <a:spcPct val="130000"/>
              </a:lnSpc>
              <a:buNone/>
            </a:pPr>
            <a:r>
              <a:rPr lang="en-US" sz="900" dirty="0">
                <a:solidFill>
                  <a:srgbClr val="000000"/>
                </a:solidFill>
                <a:latin typeface="Source Sans 3" pitchFamily="34" charset="0"/>
                <a:ea typeface="Source Sans 3" pitchFamily="34" charset="-122"/>
                <a:cs typeface="Source Sans 3" pitchFamily="34" charset="-120"/>
              </a:rPr>
              <a:t> Main observation: a unified system combining generation, classification, difficulty estimation, storage, and export remains an open need.</a:t>
            </a:r>
            <a:endParaRPr lang="en-US" sz="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496119" y="341114"/>
            <a:ext cx="8151763" cy="155004"/>
          </a:xfrm>
          <a:prstGeom prst="rect">
            <a:avLst/>
          </a:prstGeom>
          <a:noFill/>
          <a:ln/>
        </p:spPr>
        <p:txBody>
          <a:bodyPr wrap="none" lIns="0" tIns="0" rIns="0" bIns="0" rtlCol="0" anchor="t"/>
          <a:lstStyle/>
          <a:p>
            <a:pPr algn="l" indent="0" marL="0">
              <a:lnSpc>
                <a:spcPct val="104000"/>
              </a:lnSpc>
              <a:buNone/>
            </a:pPr>
            <a:r>
              <a:rPr lang="en-US" sz="950" dirty="0">
                <a:solidFill>
                  <a:srgbClr val="124E73"/>
                </a:solidFill>
                <a:latin typeface="MuseoModerno Medium" pitchFamily="34" charset="0"/>
                <a:ea typeface="MuseoModerno Medium" pitchFamily="34" charset="-122"/>
                <a:cs typeface="MuseoModerno Medium" pitchFamily="34" charset="-120"/>
              </a:rPr>
              <a:t>Gap Analysis — What’s Missing</a:t>
            </a:r>
            <a:endParaRPr lang="en-US" sz="950" dirty="0"/>
          </a:p>
        </p:txBody>
      </p:sp>
      <p:sp>
        <p:nvSpPr>
          <p:cNvPr id="3" name="Text 1"/>
          <p:cNvSpPr/>
          <p:nvPr/>
        </p:nvSpPr>
        <p:spPr>
          <a:xfrm>
            <a:off x="496119" y="570533"/>
            <a:ext cx="4457477" cy="74340"/>
          </a:xfrm>
          <a:prstGeom prst="rect">
            <a:avLst/>
          </a:prstGeom>
          <a:noFill/>
          <a:ln/>
        </p:spPr>
        <p:txBody>
          <a:bodyPr wrap="none" lIns="0" tIns="0" rIns="0" bIns="0" rtlCol="0" anchor="t"/>
          <a:lstStyle/>
          <a:p>
            <a:pPr algn="l" indent="0" marL="0">
              <a:lnSpc>
                <a:spcPct val="100000"/>
              </a:lnSpc>
              <a:buNone/>
            </a:pPr>
            <a:r>
              <a:rPr lang="en-US" sz="450" dirty="0">
                <a:solidFill>
                  <a:srgbClr val="2B4150"/>
                </a:solidFill>
                <a:latin typeface="Source Sans 3" pitchFamily="34" charset="0"/>
                <a:ea typeface="Source Sans 3" pitchFamily="34" charset="-122"/>
                <a:cs typeface="Source Sans 3" pitchFamily="34" charset="-120"/>
              </a:rPr>
              <a:t>         Key gaps identified from literature and existing platforms:       </a:t>
            </a:r>
            <a:endParaRPr lang="en-US" sz="450" dirty="0"/>
          </a:p>
        </p:txBody>
      </p:sp>
      <p:sp>
        <p:nvSpPr>
          <p:cNvPr id="4" name="Text 2"/>
          <p:cNvSpPr/>
          <p:nvPr/>
        </p:nvSpPr>
        <p:spPr>
          <a:xfrm>
            <a:off x="496119" y="672778"/>
            <a:ext cx="4000277" cy="414858"/>
          </a:xfrm>
          <a:prstGeom prst="rect">
            <a:avLst/>
          </a:prstGeom>
          <a:noFill/>
          <a:ln/>
        </p:spPr>
        <p:txBody>
          <a:bodyPr wrap="square" lIns="0" tIns="24809" rIns="0" bIns="0" rtlCol="0" anchor="t">
            <a:normAutofit/>
          </a:bodyPr>
          <a:lstStyle/>
          <a:p>
            <a:pPr algn="l" marL="91440" indent="-91440">
              <a:lnSpc>
                <a:spcPct val="100000"/>
              </a:lnSpc>
              <a:buSzPct val="100000"/>
              <a:buChar char="•"/>
            </a:pPr>
            <a:r>
              <a:rPr lang="en-US" sz="450" dirty="0">
                <a:solidFill>
                  <a:srgbClr val="2B4150"/>
                </a:solidFill>
                <a:latin typeface="Source Sans 3" pitchFamily="34" charset="0"/>
                <a:ea typeface="Source Sans 3" pitchFamily="34" charset="-122"/>
                <a:cs typeface="Source Sans 3" pitchFamily="34" charset="-120"/>
              </a:rPr>
              <a:t>Automatic topic-wise organization is often absent.</a:t>
            </a:r>
            <a:endParaRPr lang="en-US" sz="450" dirty="0"/>
          </a:p>
          <a:p>
            <a:pPr algn="l" marL="91440" indent="-91440">
              <a:lnSpc>
                <a:spcPct val="100000"/>
              </a:lnSpc>
              <a:buSzPct val="100000"/>
              <a:buChar char="•"/>
            </a:pPr>
            <a:r>
              <a:rPr lang="en-US" sz="450" dirty="0">
                <a:solidFill>
                  <a:srgbClr val="2B4150"/>
                </a:solidFill>
                <a:latin typeface="Source Sans 3" pitchFamily="34" charset="0"/>
                <a:ea typeface="Source Sans 3" pitchFamily="34" charset="-122"/>
                <a:cs typeface="Source Sans 3" pitchFamily="34" charset="-120"/>
              </a:rPr>
              <a:t>Difficulty estimation and quality scoring are limited.</a:t>
            </a:r>
            <a:endParaRPr lang="en-US" sz="450" dirty="0"/>
          </a:p>
          <a:p>
            <a:pPr algn="l" marL="91440" indent="-91440">
              <a:lnSpc>
                <a:spcPct val="100000"/>
              </a:lnSpc>
              <a:buSzPct val="100000"/>
              <a:buChar char="•"/>
            </a:pPr>
            <a:r>
              <a:rPr lang="en-US" sz="450" dirty="0">
                <a:solidFill>
                  <a:srgbClr val="2B4150"/>
                </a:solidFill>
                <a:latin typeface="Source Sans 3" pitchFamily="34" charset="0"/>
                <a:ea typeface="Source Sans 3" pitchFamily="34" charset="-122"/>
                <a:cs typeface="Source Sans 3" pitchFamily="34" charset="-120"/>
              </a:rPr>
              <a:t>Duplicate or low-quality questions are generated without filtering.</a:t>
            </a:r>
            <a:endParaRPr lang="en-US" sz="450" dirty="0"/>
          </a:p>
          <a:p>
            <a:pPr algn="l" marL="91440" indent="-91440">
              <a:lnSpc>
                <a:spcPct val="100000"/>
              </a:lnSpc>
              <a:buSzPct val="100000"/>
              <a:buChar char="•"/>
            </a:pPr>
            <a:r>
              <a:rPr lang="en-US" sz="450" dirty="0">
                <a:solidFill>
                  <a:srgbClr val="2B4150"/>
                </a:solidFill>
                <a:latin typeface="Source Sans 3" pitchFamily="34" charset="0"/>
                <a:ea typeface="Source Sans 3" pitchFamily="34" charset="-122"/>
                <a:cs typeface="Source Sans 3" pitchFamily="34" charset="-120"/>
              </a:rPr>
              <a:t>High computational needs for advanced AI solutions.</a:t>
            </a:r>
            <a:endParaRPr lang="en-US" sz="450" dirty="0"/>
          </a:p>
          <a:p>
            <a:pPr algn="l" marL="91440" indent="-91440">
              <a:lnSpc>
                <a:spcPct val="100000"/>
              </a:lnSpc>
              <a:buSzPct val="100000"/>
              <a:buChar char="•"/>
            </a:pPr>
            <a:r>
              <a:rPr lang="en-US" sz="450" dirty="0">
                <a:solidFill>
                  <a:srgbClr val="2B4150"/>
                </a:solidFill>
                <a:latin typeface="Source Sans 3" pitchFamily="34" charset="0"/>
                <a:ea typeface="Source Sans 3" pitchFamily="34" charset="-122"/>
                <a:cs typeface="Source Sans 3" pitchFamily="34" charset="-120"/>
              </a:rPr>
              <a:t>Search/export UX for teachers can be improved.</a:t>
            </a:r>
            <a:endParaRPr lang="en-US" sz="450" dirty="0"/>
          </a:p>
        </p:txBody>
      </p:sp>
      <p:pic>
        <p:nvPicPr>
          <p:cNvPr id="5" name="Image 0" descr="preencoded.png">    </p:cNvPr>
          <p:cNvPicPr>
            <a:picLocks noChangeAspect="1"/>
          </p:cNvPicPr>
          <p:nvPr/>
        </p:nvPicPr>
        <p:blipFill>
          <a:blip r:embed="rId1"/>
          <a:stretch>
            <a:fillRect/>
          </a:stretch>
        </p:blipFill>
        <p:spPr>
          <a:xfrm>
            <a:off x="4652367" y="577453"/>
            <a:ext cx="3969469" cy="3969469"/>
          </a:xfrm>
          <a:prstGeom prst="rect">
            <a:avLst/>
          </a:prstGeom>
        </p:spPr>
      </p:pic>
      <p:sp>
        <p:nvSpPr>
          <p:cNvPr id="6" name="Text 3"/>
          <p:cNvSpPr/>
          <p:nvPr/>
        </p:nvSpPr>
        <p:spPr>
          <a:xfrm>
            <a:off x="496119" y="4628257"/>
            <a:ext cx="8151763" cy="96887"/>
          </a:xfrm>
          <a:prstGeom prst="rect">
            <a:avLst/>
          </a:prstGeom>
          <a:noFill/>
          <a:ln/>
        </p:spPr>
        <p:txBody>
          <a:bodyPr wrap="none" lIns="0" tIns="0" rIns="0" bIns="0" rtlCol="0" anchor="t"/>
          <a:lstStyle/>
          <a:p>
            <a:pPr algn="l" indent="0" marL="0">
              <a:lnSpc>
                <a:spcPct val="104000"/>
              </a:lnSpc>
              <a:buNone/>
            </a:pPr>
            <a:r>
              <a:rPr lang="en-US" sz="600" dirty="0">
                <a:solidFill>
                  <a:srgbClr val="124E73"/>
                </a:solidFill>
                <a:latin typeface="MuseoModerno Medium" pitchFamily="34" charset="0"/>
                <a:ea typeface="MuseoModerno Medium" pitchFamily="34" charset="-122"/>
                <a:cs typeface="MuseoModerno Medium" pitchFamily="34" charset="-120"/>
              </a:rPr>
              <a:t>Proposed Gap Solution (Main Contribution)</a:t>
            </a:r>
            <a:endParaRPr lang="en-US" sz="600" dirty="0"/>
          </a:p>
        </p:txBody>
      </p:sp>
      <p:sp>
        <p:nvSpPr>
          <p:cNvPr id="7" name="Text 4"/>
          <p:cNvSpPr/>
          <p:nvPr/>
        </p:nvSpPr>
        <p:spPr>
          <a:xfrm>
            <a:off x="496119" y="4771653"/>
            <a:ext cx="8608963" cy="74340"/>
          </a:xfrm>
          <a:prstGeom prst="rect">
            <a:avLst/>
          </a:prstGeom>
          <a:noFill/>
          <a:ln/>
        </p:spPr>
        <p:txBody>
          <a:bodyPr wrap="none" lIns="0" tIns="0" rIns="0" bIns="0" rtlCol="0" anchor="t"/>
          <a:lstStyle/>
          <a:p>
            <a:pPr algn="l" indent="0" marL="0">
              <a:lnSpc>
                <a:spcPct val="100000"/>
              </a:lnSpc>
              <a:buNone/>
            </a:pPr>
            <a:r>
              <a:rPr lang="en-US" sz="450" dirty="0">
                <a:solidFill>
                  <a:srgbClr val="2B4150"/>
                </a:solidFill>
                <a:latin typeface="Source Sans 3" pitchFamily="34" charset="0"/>
                <a:ea typeface="Source Sans 3" pitchFamily="34" charset="-122"/>
                <a:cs typeface="Source Sans 3" pitchFamily="34" charset="-120"/>
              </a:rPr>
              <a:t> Textbook/PDF → Text Processing → Keyword Extraction → Topic Classification → Question Generation → Difficulty Estimation → Database → Search/Filter/Export.</a:t>
            </a:r>
            <a:endParaRPr lang="en-US" sz="4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nvSpPr>
        <p:spPr>
          <a:xfrm>
            <a:off x="496119" y="574700"/>
            <a:ext cx="8151763" cy="310083"/>
          </a:xfrm>
          <a:prstGeom prst="rect">
            <a:avLst/>
          </a:prstGeom>
          <a:noFill/>
          <a:ln/>
        </p:spPr>
        <p:txBody>
          <a:bodyPr wrap="none" lIns="0" tIns="0" rIns="0" bIns="0" rtlCol="0" anchor="t"/>
          <a:lstStyle/>
          <a:p>
            <a:pPr algn="l" indent="0" marL="0">
              <a:lnSpc>
                <a:spcPct val="104000"/>
              </a:lnSpc>
              <a:buNone/>
            </a:pPr>
            <a:r>
              <a:rPr lang="en-US" sz="1950" dirty="0">
                <a:solidFill>
                  <a:srgbClr val="124E73"/>
                </a:solidFill>
                <a:latin typeface="MuseoModerno Medium" pitchFamily="34" charset="0"/>
                <a:ea typeface="MuseoModerno Medium" pitchFamily="34" charset="-122"/>
                <a:cs typeface="MuseoModerno Medium" pitchFamily="34" charset="-120"/>
              </a:rPr>
              <a:t>Proposed System &amp; Methodology</a:t>
            </a:r>
            <a:endParaRPr lang="en-US" sz="1950" dirty="0"/>
          </a:p>
        </p:txBody>
      </p:sp>
      <p:sp>
        <p:nvSpPr>
          <p:cNvPr id="3" name="Text 1"/>
          <p:cNvSpPr/>
          <p:nvPr/>
        </p:nvSpPr>
        <p:spPr>
          <a:xfrm>
            <a:off x="496119" y="1132805"/>
            <a:ext cx="8151763" cy="396925"/>
          </a:xfrm>
          <a:prstGeom prst="rect">
            <a:avLst/>
          </a:prstGeom>
          <a:noFill/>
          <a:ln/>
        </p:spPr>
        <p:txBody>
          <a:bodyPr wrap="square" lIns="0" tIns="0" rIns="0" bIns="0" rtlCol="0" anchor="t">
            <a:normAutofit/>
          </a:bodyPr>
          <a:lstStyle/>
          <a:p>
            <a:pPr algn="l" indent="0" marL="0">
              <a:lnSpc>
                <a:spcPct val="133000"/>
              </a:lnSpc>
              <a:buNone/>
            </a:pPr>
            <a:r>
              <a:rPr lang="en-US" sz="950" dirty="0">
                <a:solidFill>
                  <a:srgbClr val="2B4150"/>
                </a:solidFill>
                <a:latin typeface="Source Sans 3" pitchFamily="34" charset="0"/>
                <a:ea typeface="Source Sans 3" pitchFamily="34" charset="-122"/>
                <a:cs typeface="Source Sans 3" pitchFamily="34" charset="-120"/>
              </a:rPr>
              <a:t>     The system ingests textbooks and PDFs, extracts and preprocesses text, classifies content by topic, generates question candidates, estimates difficulty, and stores structured questions with metadata in SQLite for retrieval and export.   </a:t>
            </a:r>
            <a:endParaRPr lang="en-US" sz="950" dirty="0"/>
          </a:p>
        </p:txBody>
      </p:sp>
      <p:pic>
        <p:nvPicPr>
          <p:cNvPr id="4" name="Image 0" descr="preencoded.png">    </p:cNvPr>
          <p:cNvPicPr>
            <a:picLocks noChangeAspect="1"/>
          </p:cNvPicPr>
          <p:nvPr/>
        </p:nvPicPr>
        <p:blipFill>
          <a:blip r:embed="rId1"/>
          <a:stretch>
            <a:fillRect/>
          </a:stretch>
        </p:blipFill>
        <p:spPr>
          <a:xfrm>
            <a:off x="496119" y="1669256"/>
            <a:ext cx="557213" cy="696516"/>
          </a:xfrm>
          <a:prstGeom prst="rect">
            <a:avLst/>
          </a:prstGeom>
        </p:spPr>
      </p:pic>
      <p:sp>
        <p:nvSpPr>
          <p:cNvPr id="5" name="Text 2"/>
          <p:cNvSpPr/>
          <p:nvPr/>
        </p:nvSpPr>
        <p:spPr>
          <a:xfrm>
            <a:off x="1208336" y="1669256"/>
            <a:ext cx="1209452" cy="193849"/>
          </a:xfrm>
          <a:prstGeom prst="rect">
            <a:avLst/>
          </a:prstGeom>
          <a:noFill/>
          <a:ln/>
        </p:spPr>
        <p:txBody>
          <a:bodyPr wrap="none" lIns="0" tIns="0" rIns="0" bIns="0" rtlCol="0" anchor="t"/>
          <a:lstStyle/>
          <a:p>
            <a:pPr algn="l" indent="0" marL="0">
              <a:lnSpc>
                <a:spcPct val="104000"/>
              </a:lnSpc>
              <a:buNone/>
            </a:pPr>
            <a:r>
              <a:rPr lang="en-US" sz="1200" dirty="0">
                <a:solidFill>
                  <a:srgbClr val="2B4150"/>
                </a:solidFill>
                <a:latin typeface="MuseoModerno Medium" pitchFamily="34" charset="0"/>
                <a:ea typeface="MuseoModerno Medium" pitchFamily="34" charset="-122"/>
                <a:cs typeface="MuseoModerno Medium" pitchFamily="34" charset="-120"/>
              </a:rPr>
              <a:t>1. Upload</a:t>
            </a:r>
            <a:endParaRPr lang="en-US" sz="1200" dirty="0"/>
          </a:p>
        </p:txBody>
      </p:sp>
      <p:sp>
        <p:nvSpPr>
          <p:cNvPr id="6" name="Text 3"/>
          <p:cNvSpPr/>
          <p:nvPr/>
        </p:nvSpPr>
        <p:spPr>
          <a:xfrm>
            <a:off x="1208336" y="1937519"/>
            <a:ext cx="1209452" cy="595387"/>
          </a:xfrm>
          <a:prstGeom prst="rect">
            <a:avLst/>
          </a:prstGeom>
          <a:noFill/>
          <a:ln/>
        </p:spPr>
        <p:txBody>
          <a:bodyPr wrap="square" lIns="0" tIns="0" rIns="0" bIns="0" rtlCol="0" anchor="t">
            <a:normAutofit/>
          </a:bodyPr>
          <a:lstStyle/>
          <a:p>
            <a:pPr algn="l" indent="0" marL="0">
              <a:lnSpc>
                <a:spcPct val="133000"/>
              </a:lnSpc>
              <a:buNone/>
            </a:pPr>
            <a:r>
              <a:rPr lang="en-US" sz="950" dirty="0">
                <a:solidFill>
                  <a:srgbClr val="2B4150"/>
                </a:solidFill>
                <a:latin typeface="Source Sans 3" pitchFamily="34" charset="0"/>
                <a:ea typeface="Source Sans 3" pitchFamily="34" charset="-122"/>
                <a:cs typeface="Source Sans 3" pitchFamily="34" charset="-120"/>
              </a:rPr>
              <a:t>Upload textbook or PDF as input document.</a:t>
            </a:r>
            <a:endParaRPr lang="en-US" sz="950" dirty="0"/>
          </a:p>
        </p:txBody>
      </p:sp>
      <p:pic>
        <p:nvPicPr>
          <p:cNvPr id="7" name="Image 1" descr="preencoded.png">    </p:cNvPr>
          <p:cNvPicPr>
            <a:picLocks noChangeAspect="1"/>
          </p:cNvPicPr>
          <p:nvPr/>
        </p:nvPicPr>
        <p:blipFill>
          <a:blip r:embed="rId2"/>
          <a:stretch>
            <a:fillRect/>
          </a:stretch>
        </p:blipFill>
        <p:spPr>
          <a:xfrm>
            <a:off x="2572792" y="1669256"/>
            <a:ext cx="557213" cy="696516"/>
          </a:xfrm>
          <a:prstGeom prst="rect">
            <a:avLst/>
          </a:prstGeom>
        </p:spPr>
      </p:pic>
      <p:sp>
        <p:nvSpPr>
          <p:cNvPr id="8" name="Text 4"/>
          <p:cNvSpPr/>
          <p:nvPr/>
        </p:nvSpPr>
        <p:spPr>
          <a:xfrm>
            <a:off x="3285009" y="1669256"/>
            <a:ext cx="1209452" cy="387697"/>
          </a:xfrm>
          <a:prstGeom prst="rect">
            <a:avLst/>
          </a:prstGeom>
          <a:noFill/>
          <a:ln/>
        </p:spPr>
        <p:txBody>
          <a:bodyPr wrap="square" lIns="0" tIns="0" rIns="0" bIns="0" rtlCol="0" anchor="t">
            <a:normAutofit/>
          </a:bodyPr>
          <a:lstStyle/>
          <a:p>
            <a:pPr algn="l" indent="0" marL="0">
              <a:lnSpc>
                <a:spcPct val="104000"/>
              </a:lnSpc>
              <a:buNone/>
            </a:pPr>
            <a:r>
              <a:rPr lang="en-US" sz="1200" dirty="0">
                <a:solidFill>
                  <a:srgbClr val="2B4150"/>
                </a:solidFill>
                <a:latin typeface="MuseoModerno Medium" pitchFamily="34" charset="0"/>
                <a:ea typeface="MuseoModerno Medium" pitchFamily="34" charset="-122"/>
                <a:cs typeface="MuseoModerno Medium" pitchFamily="34" charset="-120"/>
              </a:rPr>
              <a:t>2. Text Processing</a:t>
            </a:r>
            <a:endParaRPr lang="en-US" sz="1200" dirty="0"/>
          </a:p>
        </p:txBody>
      </p:sp>
      <p:sp>
        <p:nvSpPr>
          <p:cNvPr id="9" name="Text 5"/>
          <p:cNvSpPr/>
          <p:nvPr/>
        </p:nvSpPr>
        <p:spPr>
          <a:xfrm>
            <a:off x="3285009" y="2131368"/>
            <a:ext cx="1209452" cy="595387"/>
          </a:xfrm>
          <a:prstGeom prst="rect">
            <a:avLst/>
          </a:prstGeom>
          <a:noFill/>
          <a:ln/>
        </p:spPr>
        <p:txBody>
          <a:bodyPr wrap="square" lIns="0" tIns="0" rIns="0" bIns="0" rtlCol="0" anchor="t">
            <a:normAutofit/>
          </a:bodyPr>
          <a:lstStyle/>
          <a:p>
            <a:pPr algn="l" indent="0" marL="0">
              <a:lnSpc>
                <a:spcPct val="133000"/>
              </a:lnSpc>
              <a:buNone/>
            </a:pPr>
            <a:r>
              <a:rPr lang="en-US" sz="950" dirty="0">
                <a:solidFill>
                  <a:srgbClr val="2B4150"/>
                </a:solidFill>
                <a:latin typeface="Source Sans 3" pitchFamily="34" charset="0"/>
                <a:ea typeface="Source Sans 3" pitchFamily="34" charset="-122"/>
                <a:cs typeface="Source Sans 3" pitchFamily="34" charset="-120"/>
              </a:rPr>
              <a:t>OCR (if needed), cleaning, sentence segmentation.</a:t>
            </a:r>
            <a:endParaRPr lang="en-US" sz="950" dirty="0"/>
          </a:p>
        </p:txBody>
      </p:sp>
      <p:pic>
        <p:nvPicPr>
          <p:cNvPr id="10" name="Image 2" descr="preencoded.png">    </p:cNvPr>
          <p:cNvPicPr>
            <a:picLocks noChangeAspect="1"/>
          </p:cNvPicPr>
          <p:nvPr/>
        </p:nvPicPr>
        <p:blipFill>
          <a:blip r:embed="rId3"/>
          <a:stretch>
            <a:fillRect/>
          </a:stretch>
        </p:blipFill>
        <p:spPr>
          <a:xfrm>
            <a:off x="4649465" y="1669256"/>
            <a:ext cx="557213" cy="696516"/>
          </a:xfrm>
          <a:prstGeom prst="rect">
            <a:avLst/>
          </a:prstGeom>
        </p:spPr>
      </p:pic>
      <p:sp>
        <p:nvSpPr>
          <p:cNvPr id="11" name="Text 6"/>
          <p:cNvSpPr/>
          <p:nvPr/>
        </p:nvSpPr>
        <p:spPr>
          <a:xfrm>
            <a:off x="5361682" y="1669256"/>
            <a:ext cx="1209452" cy="387697"/>
          </a:xfrm>
          <a:prstGeom prst="rect">
            <a:avLst/>
          </a:prstGeom>
          <a:noFill/>
          <a:ln/>
        </p:spPr>
        <p:txBody>
          <a:bodyPr wrap="square" lIns="0" tIns="0" rIns="0" bIns="0" rtlCol="0" anchor="t">
            <a:normAutofit/>
          </a:bodyPr>
          <a:lstStyle/>
          <a:p>
            <a:pPr algn="l" indent="0" marL="0">
              <a:lnSpc>
                <a:spcPct val="104000"/>
              </a:lnSpc>
              <a:buNone/>
            </a:pPr>
            <a:r>
              <a:rPr lang="en-US" sz="1200" dirty="0">
                <a:solidFill>
                  <a:srgbClr val="2B4150"/>
                </a:solidFill>
                <a:latin typeface="MuseoModerno Medium" pitchFamily="34" charset="0"/>
                <a:ea typeface="MuseoModerno Medium" pitchFamily="34" charset="-122"/>
                <a:cs typeface="MuseoModerno Medium" pitchFamily="34" charset="-120"/>
              </a:rPr>
              <a:t>3. Keyword Extraction</a:t>
            </a:r>
            <a:endParaRPr lang="en-US" sz="1200" dirty="0"/>
          </a:p>
        </p:txBody>
      </p:sp>
      <p:sp>
        <p:nvSpPr>
          <p:cNvPr id="12" name="Text 7"/>
          <p:cNvSpPr/>
          <p:nvPr/>
        </p:nvSpPr>
        <p:spPr>
          <a:xfrm>
            <a:off x="5361682" y="2131368"/>
            <a:ext cx="1209452" cy="396925"/>
          </a:xfrm>
          <a:prstGeom prst="rect">
            <a:avLst/>
          </a:prstGeom>
          <a:noFill/>
          <a:ln/>
        </p:spPr>
        <p:txBody>
          <a:bodyPr wrap="square" lIns="0" tIns="0" rIns="0" bIns="0" rtlCol="0" anchor="t">
            <a:normAutofit/>
          </a:bodyPr>
          <a:lstStyle/>
          <a:p>
            <a:pPr algn="l" indent="0" marL="0">
              <a:lnSpc>
                <a:spcPct val="133000"/>
              </a:lnSpc>
              <a:buNone/>
            </a:pPr>
            <a:r>
              <a:rPr lang="en-US" sz="950" dirty="0">
                <a:solidFill>
                  <a:srgbClr val="2B4150"/>
                </a:solidFill>
                <a:latin typeface="Source Sans 3" pitchFamily="34" charset="0"/>
                <a:ea typeface="Source Sans 3" pitchFamily="34" charset="-122"/>
                <a:cs typeface="Source Sans 3" pitchFamily="34" charset="-120"/>
              </a:rPr>
              <a:t>spaCy/NLTK extract key phrases and concepts.</a:t>
            </a:r>
            <a:endParaRPr lang="en-US" sz="950" dirty="0"/>
          </a:p>
        </p:txBody>
      </p:sp>
      <p:pic>
        <p:nvPicPr>
          <p:cNvPr id="13" name="Image 3" descr="preencoded.png">    </p:cNvPr>
          <p:cNvPicPr>
            <a:picLocks noChangeAspect="1"/>
          </p:cNvPicPr>
          <p:nvPr/>
        </p:nvPicPr>
        <p:blipFill>
          <a:blip r:embed="rId4"/>
          <a:stretch>
            <a:fillRect/>
          </a:stretch>
        </p:blipFill>
        <p:spPr>
          <a:xfrm>
            <a:off x="6726138" y="1669256"/>
            <a:ext cx="557287" cy="696590"/>
          </a:xfrm>
          <a:prstGeom prst="rect">
            <a:avLst/>
          </a:prstGeom>
        </p:spPr>
      </p:pic>
      <p:sp>
        <p:nvSpPr>
          <p:cNvPr id="14" name="Text 8"/>
          <p:cNvSpPr/>
          <p:nvPr/>
        </p:nvSpPr>
        <p:spPr>
          <a:xfrm>
            <a:off x="7438430" y="1669256"/>
            <a:ext cx="1209452" cy="387697"/>
          </a:xfrm>
          <a:prstGeom prst="rect">
            <a:avLst/>
          </a:prstGeom>
          <a:noFill/>
          <a:ln/>
        </p:spPr>
        <p:txBody>
          <a:bodyPr wrap="square" lIns="0" tIns="0" rIns="0" bIns="0" rtlCol="0" anchor="t">
            <a:normAutofit/>
          </a:bodyPr>
          <a:lstStyle/>
          <a:p>
            <a:pPr algn="l" indent="0" marL="0">
              <a:lnSpc>
                <a:spcPct val="104000"/>
              </a:lnSpc>
              <a:buNone/>
            </a:pPr>
            <a:r>
              <a:rPr lang="en-US" sz="1200" dirty="0">
                <a:solidFill>
                  <a:srgbClr val="2B4150"/>
                </a:solidFill>
                <a:latin typeface="MuseoModerno Medium" pitchFamily="34" charset="0"/>
                <a:ea typeface="MuseoModerno Medium" pitchFamily="34" charset="-122"/>
                <a:cs typeface="MuseoModerno Medium" pitchFamily="34" charset="-120"/>
              </a:rPr>
              <a:t>4. Topic Classification</a:t>
            </a:r>
            <a:endParaRPr lang="en-US" sz="1200" dirty="0"/>
          </a:p>
        </p:txBody>
      </p:sp>
      <p:sp>
        <p:nvSpPr>
          <p:cNvPr id="15" name="Text 9"/>
          <p:cNvSpPr/>
          <p:nvPr/>
        </p:nvSpPr>
        <p:spPr>
          <a:xfrm>
            <a:off x="7438430" y="2131368"/>
            <a:ext cx="1209452" cy="595387"/>
          </a:xfrm>
          <a:prstGeom prst="rect">
            <a:avLst/>
          </a:prstGeom>
          <a:noFill/>
          <a:ln/>
        </p:spPr>
        <p:txBody>
          <a:bodyPr wrap="square" lIns="0" tIns="0" rIns="0" bIns="0" rtlCol="0" anchor="t">
            <a:normAutofit/>
          </a:bodyPr>
          <a:lstStyle/>
          <a:p>
            <a:pPr algn="l" indent="0" marL="0">
              <a:lnSpc>
                <a:spcPct val="133000"/>
              </a:lnSpc>
              <a:buNone/>
            </a:pPr>
            <a:r>
              <a:rPr lang="en-US" sz="950" dirty="0">
                <a:solidFill>
                  <a:srgbClr val="2B4150"/>
                </a:solidFill>
                <a:latin typeface="Source Sans 3" pitchFamily="34" charset="0"/>
                <a:ea typeface="Source Sans 3" pitchFamily="34" charset="-122"/>
                <a:cs typeface="Source Sans 3" pitchFamily="34" charset="-120"/>
              </a:rPr>
              <a:t>Map sentences to course topics using trained classifiers.</a:t>
            </a:r>
            <a:endParaRPr lang="en-US" sz="950" dirty="0"/>
          </a:p>
        </p:txBody>
      </p:sp>
      <p:pic>
        <p:nvPicPr>
          <p:cNvPr id="16" name="Image 4" descr="preencoded.png">    </p:cNvPr>
          <p:cNvPicPr>
            <a:picLocks noChangeAspect="1"/>
          </p:cNvPicPr>
          <p:nvPr/>
        </p:nvPicPr>
        <p:blipFill>
          <a:blip r:embed="rId5"/>
          <a:stretch>
            <a:fillRect/>
          </a:stretch>
        </p:blipFill>
        <p:spPr>
          <a:xfrm>
            <a:off x="496119" y="2974777"/>
            <a:ext cx="557213" cy="696516"/>
          </a:xfrm>
          <a:prstGeom prst="rect">
            <a:avLst/>
          </a:prstGeom>
        </p:spPr>
      </p:pic>
      <p:sp>
        <p:nvSpPr>
          <p:cNvPr id="17" name="Text 10"/>
          <p:cNvSpPr/>
          <p:nvPr/>
        </p:nvSpPr>
        <p:spPr>
          <a:xfrm>
            <a:off x="1208336" y="2974777"/>
            <a:ext cx="1209452" cy="387697"/>
          </a:xfrm>
          <a:prstGeom prst="rect">
            <a:avLst/>
          </a:prstGeom>
          <a:noFill/>
          <a:ln/>
        </p:spPr>
        <p:txBody>
          <a:bodyPr wrap="square" lIns="0" tIns="0" rIns="0" bIns="0" rtlCol="0" anchor="t">
            <a:normAutofit/>
          </a:bodyPr>
          <a:lstStyle/>
          <a:p>
            <a:pPr algn="l" indent="0" marL="0">
              <a:lnSpc>
                <a:spcPct val="104000"/>
              </a:lnSpc>
              <a:buNone/>
            </a:pPr>
            <a:r>
              <a:rPr lang="en-US" sz="1200" dirty="0">
                <a:solidFill>
                  <a:srgbClr val="2B4150"/>
                </a:solidFill>
                <a:latin typeface="MuseoModerno Medium" pitchFamily="34" charset="0"/>
                <a:ea typeface="MuseoModerno Medium" pitchFamily="34" charset="-122"/>
                <a:cs typeface="MuseoModerno Medium" pitchFamily="34" charset="-120"/>
              </a:rPr>
              <a:t>5. Question Generation</a:t>
            </a:r>
            <a:endParaRPr lang="en-US" sz="1200" dirty="0"/>
          </a:p>
        </p:txBody>
      </p:sp>
      <p:sp>
        <p:nvSpPr>
          <p:cNvPr id="18" name="Text 11"/>
          <p:cNvSpPr/>
          <p:nvPr/>
        </p:nvSpPr>
        <p:spPr>
          <a:xfrm>
            <a:off x="1208336" y="3436888"/>
            <a:ext cx="1209452" cy="793849"/>
          </a:xfrm>
          <a:prstGeom prst="rect">
            <a:avLst/>
          </a:prstGeom>
          <a:noFill/>
          <a:ln/>
        </p:spPr>
        <p:txBody>
          <a:bodyPr wrap="square" lIns="0" tIns="0" rIns="0" bIns="0" rtlCol="0" anchor="t">
            <a:normAutofit/>
          </a:bodyPr>
          <a:lstStyle/>
          <a:p>
            <a:pPr algn="l" indent="0" marL="0">
              <a:lnSpc>
                <a:spcPct val="133000"/>
              </a:lnSpc>
              <a:buNone/>
            </a:pPr>
            <a:r>
              <a:rPr lang="en-US" sz="950" dirty="0">
                <a:solidFill>
                  <a:srgbClr val="2B4150"/>
                </a:solidFill>
                <a:latin typeface="Source Sans 3" pitchFamily="34" charset="0"/>
                <a:ea typeface="Source Sans 3" pitchFamily="34" charset="-122"/>
                <a:cs typeface="Source Sans 3" pitchFamily="34" charset="-120"/>
              </a:rPr>
              <a:t>Template + Transformer hybrid generates question candidates.</a:t>
            </a:r>
            <a:endParaRPr lang="en-US" sz="950" dirty="0"/>
          </a:p>
        </p:txBody>
      </p:sp>
      <p:pic>
        <p:nvPicPr>
          <p:cNvPr id="19" name="Image 5" descr="preencoded.png">    </p:cNvPr>
          <p:cNvPicPr>
            <a:picLocks noChangeAspect="1"/>
          </p:cNvPicPr>
          <p:nvPr/>
        </p:nvPicPr>
        <p:blipFill>
          <a:blip r:embed="rId6"/>
          <a:stretch>
            <a:fillRect/>
          </a:stretch>
        </p:blipFill>
        <p:spPr>
          <a:xfrm>
            <a:off x="2572792" y="2974777"/>
            <a:ext cx="557213" cy="696516"/>
          </a:xfrm>
          <a:prstGeom prst="rect">
            <a:avLst/>
          </a:prstGeom>
        </p:spPr>
      </p:pic>
      <p:sp>
        <p:nvSpPr>
          <p:cNvPr id="20" name="Text 12"/>
          <p:cNvSpPr/>
          <p:nvPr/>
        </p:nvSpPr>
        <p:spPr>
          <a:xfrm>
            <a:off x="3285009" y="2974777"/>
            <a:ext cx="1209452" cy="387697"/>
          </a:xfrm>
          <a:prstGeom prst="rect">
            <a:avLst/>
          </a:prstGeom>
          <a:noFill/>
          <a:ln/>
        </p:spPr>
        <p:txBody>
          <a:bodyPr wrap="square" lIns="0" tIns="0" rIns="0" bIns="0" rtlCol="0" anchor="t">
            <a:normAutofit/>
          </a:bodyPr>
          <a:lstStyle/>
          <a:p>
            <a:pPr algn="l" indent="0" marL="0">
              <a:lnSpc>
                <a:spcPct val="104000"/>
              </a:lnSpc>
              <a:buNone/>
            </a:pPr>
            <a:r>
              <a:rPr lang="en-US" sz="1200" dirty="0">
                <a:solidFill>
                  <a:srgbClr val="2B4150"/>
                </a:solidFill>
                <a:latin typeface="MuseoModerno Medium" pitchFamily="34" charset="0"/>
                <a:ea typeface="MuseoModerno Medium" pitchFamily="34" charset="-122"/>
                <a:cs typeface="MuseoModerno Medium" pitchFamily="34" charset="-120"/>
              </a:rPr>
              <a:t>6. Difficulty Estimation</a:t>
            </a:r>
            <a:endParaRPr lang="en-US" sz="1200" dirty="0"/>
          </a:p>
        </p:txBody>
      </p:sp>
      <p:sp>
        <p:nvSpPr>
          <p:cNvPr id="21" name="Text 13"/>
          <p:cNvSpPr/>
          <p:nvPr/>
        </p:nvSpPr>
        <p:spPr>
          <a:xfrm>
            <a:off x="3285009" y="3436888"/>
            <a:ext cx="1209452" cy="595387"/>
          </a:xfrm>
          <a:prstGeom prst="rect">
            <a:avLst/>
          </a:prstGeom>
          <a:noFill/>
          <a:ln/>
        </p:spPr>
        <p:txBody>
          <a:bodyPr wrap="square" lIns="0" tIns="0" rIns="0" bIns="0" rtlCol="0" anchor="t">
            <a:normAutofit/>
          </a:bodyPr>
          <a:lstStyle/>
          <a:p>
            <a:pPr algn="l" indent="0" marL="0">
              <a:lnSpc>
                <a:spcPct val="133000"/>
              </a:lnSpc>
              <a:buNone/>
            </a:pPr>
            <a:r>
              <a:rPr lang="en-US" sz="950" dirty="0">
                <a:solidFill>
                  <a:srgbClr val="2B4150"/>
                </a:solidFill>
                <a:latin typeface="Source Sans 3" pitchFamily="34" charset="0"/>
                <a:ea typeface="Source Sans 3" pitchFamily="34" charset="-122"/>
                <a:cs typeface="Source Sans 3" pitchFamily="34" charset="-120"/>
              </a:rPr>
              <a:t>Heuristic and ML-based scoring to tag difficulty levels.</a:t>
            </a:r>
            <a:endParaRPr lang="en-US" sz="950" dirty="0"/>
          </a:p>
        </p:txBody>
      </p:sp>
      <p:pic>
        <p:nvPicPr>
          <p:cNvPr id="22" name="Image 6" descr="preencoded.png">    </p:cNvPr>
          <p:cNvPicPr>
            <a:picLocks noChangeAspect="1"/>
          </p:cNvPicPr>
          <p:nvPr/>
        </p:nvPicPr>
        <p:blipFill>
          <a:blip r:embed="rId7"/>
          <a:stretch>
            <a:fillRect/>
          </a:stretch>
        </p:blipFill>
        <p:spPr>
          <a:xfrm>
            <a:off x="4649465" y="2974777"/>
            <a:ext cx="557213" cy="696516"/>
          </a:xfrm>
          <a:prstGeom prst="rect">
            <a:avLst/>
          </a:prstGeom>
        </p:spPr>
      </p:pic>
      <p:sp>
        <p:nvSpPr>
          <p:cNvPr id="23" name="Text 14"/>
          <p:cNvSpPr/>
          <p:nvPr/>
        </p:nvSpPr>
        <p:spPr>
          <a:xfrm>
            <a:off x="5361682" y="2974777"/>
            <a:ext cx="1209452" cy="387697"/>
          </a:xfrm>
          <a:prstGeom prst="rect">
            <a:avLst/>
          </a:prstGeom>
          <a:noFill/>
          <a:ln/>
        </p:spPr>
        <p:txBody>
          <a:bodyPr wrap="square" lIns="0" tIns="0" rIns="0" bIns="0" rtlCol="0" anchor="t">
            <a:normAutofit/>
          </a:bodyPr>
          <a:lstStyle/>
          <a:p>
            <a:pPr algn="l" indent="0" marL="0">
              <a:lnSpc>
                <a:spcPct val="104000"/>
              </a:lnSpc>
              <a:buNone/>
            </a:pPr>
            <a:r>
              <a:rPr lang="en-US" sz="1200" dirty="0">
                <a:solidFill>
                  <a:srgbClr val="2B4150"/>
                </a:solidFill>
                <a:latin typeface="MuseoModerno Medium" pitchFamily="34" charset="0"/>
                <a:ea typeface="MuseoModerno Medium" pitchFamily="34" charset="-122"/>
                <a:cs typeface="MuseoModerno Medium" pitchFamily="34" charset="-120"/>
              </a:rPr>
              <a:t>7. Storage &amp; Export</a:t>
            </a:r>
            <a:endParaRPr lang="en-US" sz="1200" dirty="0"/>
          </a:p>
        </p:txBody>
      </p:sp>
      <p:sp>
        <p:nvSpPr>
          <p:cNvPr id="24" name="Text 15"/>
          <p:cNvSpPr/>
          <p:nvPr/>
        </p:nvSpPr>
        <p:spPr>
          <a:xfrm>
            <a:off x="5361682" y="3436888"/>
            <a:ext cx="1209452" cy="793849"/>
          </a:xfrm>
          <a:prstGeom prst="rect">
            <a:avLst/>
          </a:prstGeom>
          <a:noFill/>
          <a:ln/>
        </p:spPr>
        <p:txBody>
          <a:bodyPr wrap="square" lIns="0" tIns="0" rIns="0" bIns="0" rtlCol="0" anchor="t">
            <a:normAutofit/>
          </a:bodyPr>
          <a:lstStyle/>
          <a:p>
            <a:pPr algn="l" indent="0" marL="0">
              <a:lnSpc>
                <a:spcPct val="133000"/>
              </a:lnSpc>
              <a:buNone/>
            </a:pPr>
            <a:r>
              <a:rPr lang="en-US" sz="950" dirty="0">
                <a:solidFill>
                  <a:srgbClr val="2B4150"/>
                </a:solidFill>
                <a:latin typeface="Source Sans 3" pitchFamily="34" charset="0"/>
                <a:ea typeface="Source Sans 3" pitchFamily="34" charset="-122"/>
                <a:cs typeface="Source Sans 3" pitchFamily="34" charset="-120"/>
              </a:rPr>
              <a:t>Store structured questions in SQLite; support search and export (CSV/JSON).</a:t>
            </a:r>
            <a:endParaRPr lang="en-US" sz="950" dirty="0"/>
          </a:p>
        </p:txBody>
      </p:sp>
      <p:sp>
        <p:nvSpPr>
          <p:cNvPr id="25" name="Text 16"/>
          <p:cNvSpPr/>
          <p:nvPr/>
        </p:nvSpPr>
        <p:spPr>
          <a:xfrm>
            <a:off x="496119" y="4370263"/>
            <a:ext cx="8608963" cy="198462"/>
          </a:xfrm>
          <a:prstGeom prst="rect">
            <a:avLst/>
          </a:prstGeom>
          <a:noFill/>
          <a:ln/>
        </p:spPr>
        <p:txBody>
          <a:bodyPr wrap="none" lIns="0" tIns="0" rIns="0" bIns="0" rtlCol="0" anchor="t"/>
          <a:lstStyle/>
          <a:p>
            <a:pPr algn="l" indent="0" marL="0">
              <a:lnSpc>
                <a:spcPct val="133000"/>
              </a:lnSpc>
              <a:buNone/>
            </a:pPr>
            <a:r>
              <a:rPr lang="en-US" sz="950" dirty="0">
                <a:solidFill>
                  <a:srgbClr val="2B4150"/>
                </a:solidFill>
                <a:latin typeface="Source Sans 3" pitchFamily="34" charset="0"/>
                <a:ea typeface="Source Sans 3" pitchFamily="34" charset="-122"/>
                <a:cs typeface="Source Sans 3" pitchFamily="34" charset="-120"/>
              </a:rPr>
              <a:t> Technologies: Python/Java, spaCy, NLTK, SQLite, optional Flask/Django for UI and REST API for integration.</a:t>
            </a:r>
            <a:endParaRPr lang="en-US" sz="9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nvSpPr>
        <p:spPr>
          <a:xfrm>
            <a:off x="496119" y="346844"/>
            <a:ext cx="8151763" cy="247129"/>
          </a:xfrm>
          <a:prstGeom prst="rect">
            <a:avLst/>
          </a:prstGeom>
          <a:noFill/>
          <a:ln/>
        </p:spPr>
        <p:txBody>
          <a:bodyPr wrap="none" lIns="0" tIns="0" rIns="0" bIns="0" rtlCol="0" anchor="t"/>
          <a:lstStyle/>
          <a:p>
            <a:pPr algn="l" indent="0" marL="0">
              <a:lnSpc>
                <a:spcPct val="104000"/>
              </a:lnSpc>
              <a:buNone/>
            </a:pPr>
            <a:r>
              <a:rPr lang="en-US" sz="1550" dirty="0">
                <a:solidFill>
                  <a:srgbClr val="124E73"/>
                </a:solidFill>
                <a:latin typeface="MuseoModerno Medium" pitchFamily="34" charset="0"/>
                <a:ea typeface="MuseoModerno Medium" pitchFamily="34" charset="-122"/>
                <a:cs typeface="MuseoModerno Medium" pitchFamily="34" charset="-120"/>
              </a:rPr>
              <a:t>Conclusion &amp; Future Scope</a:t>
            </a:r>
            <a:endParaRPr lang="en-US" sz="1550" dirty="0"/>
          </a:p>
        </p:txBody>
      </p:sp>
      <p:sp>
        <p:nvSpPr>
          <p:cNvPr id="3" name="Text 1"/>
          <p:cNvSpPr/>
          <p:nvPr/>
        </p:nvSpPr>
        <p:spPr>
          <a:xfrm>
            <a:off x="496119" y="782910"/>
            <a:ext cx="5214193" cy="284113"/>
          </a:xfrm>
          <a:prstGeom prst="rect">
            <a:avLst/>
          </a:prstGeom>
          <a:noFill/>
          <a:ln/>
        </p:spPr>
        <p:txBody>
          <a:bodyPr wrap="square" lIns="0" tIns="0" rIns="0" bIns="0" rtlCol="0" anchor="t">
            <a:normAutofit/>
          </a:bodyPr>
          <a:lstStyle/>
          <a:p>
            <a:pPr algn="l" indent="0" marL="0">
              <a:lnSpc>
                <a:spcPct val="120000"/>
              </a:lnSpc>
              <a:buNone/>
            </a:pPr>
            <a:r>
              <a:rPr lang="en-US" sz="750" dirty="0">
                <a:solidFill>
                  <a:srgbClr val="2B4150"/>
                </a:solidFill>
                <a:latin typeface="Source Sans 3" pitchFamily="34" charset="0"/>
                <a:ea typeface="Source Sans 3" pitchFamily="34" charset="-122"/>
                <a:cs typeface="Source Sans 3" pitchFamily="34" charset="-120"/>
              </a:rPr>
              <a:t>         Conclusion: The proposed system reduces manual effort, extracts useful items from textbooks/PDFs, organizes questions by topic and difficulty, and enables fast retrieval for tests and practice sets.       </a:t>
            </a:r>
            <a:endParaRPr lang="en-US" sz="750" dirty="0"/>
          </a:p>
        </p:txBody>
      </p:sp>
      <p:sp>
        <p:nvSpPr>
          <p:cNvPr id="4" name="Text 2"/>
          <p:cNvSpPr/>
          <p:nvPr/>
        </p:nvSpPr>
        <p:spPr>
          <a:xfrm>
            <a:off x="496119" y="1137865"/>
            <a:ext cx="5214193" cy="481236"/>
          </a:xfrm>
          <a:prstGeom prst="rect">
            <a:avLst/>
          </a:prstGeom>
          <a:noFill/>
          <a:ln/>
        </p:spPr>
        <p:txBody>
          <a:bodyPr wrap="square" lIns="0" tIns="39540" rIns="0" bIns="0" rtlCol="0" anchor="t">
            <a:normAutofit/>
          </a:bodyPr>
          <a:lstStyle/>
          <a:p>
            <a:pPr algn="l" marL="152400" indent="-152400">
              <a:lnSpc>
                <a:spcPct val="120000"/>
              </a:lnSpc>
              <a:buSzPct val="100000"/>
              <a:buChar char="•"/>
            </a:pPr>
            <a:r>
              <a:rPr lang="en-US" sz="750" dirty="0">
                <a:solidFill>
                  <a:srgbClr val="2B4150"/>
                </a:solidFill>
                <a:latin typeface="Source Sans 3" pitchFamily="34" charset="0"/>
                <a:ea typeface="Source Sans 3" pitchFamily="34" charset="-122"/>
                <a:cs typeface="Source Sans 3" pitchFamily="34" charset="-120"/>
              </a:rPr>
              <a:t>Improves teacher efficiency and consistency in assessment content.</a:t>
            </a:r>
            <a:endParaRPr lang="en-US" sz="750" dirty="0"/>
          </a:p>
          <a:p>
            <a:pPr algn="l" marL="152400" indent="-152400">
              <a:lnSpc>
                <a:spcPct val="120000"/>
              </a:lnSpc>
              <a:buSzPct val="100000"/>
              <a:buChar char="•"/>
            </a:pPr>
            <a:r>
              <a:rPr lang="en-US" sz="750" dirty="0">
                <a:solidFill>
                  <a:srgbClr val="2B4150"/>
                </a:solidFill>
                <a:latin typeface="Source Sans 3" pitchFamily="34" charset="0"/>
                <a:ea typeface="Source Sans 3" pitchFamily="34" charset="-122"/>
                <a:cs typeface="Source Sans 3" pitchFamily="34" charset="-120"/>
              </a:rPr>
              <a:t>Provides structured metadata for search, filtering, and export.</a:t>
            </a:r>
            <a:endParaRPr lang="en-US" sz="750" dirty="0"/>
          </a:p>
          <a:p>
            <a:pPr algn="l" marL="152400" indent="-152400">
              <a:lnSpc>
                <a:spcPct val="120000"/>
              </a:lnSpc>
              <a:buSzPct val="100000"/>
              <a:buChar char="•"/>
            </a:pPr>
            <a:r>
              <a:rPr lang="en-US" sz="750" dirty="0">
                <a:solidFill>
                  <a:srgbClr val="2B4150"/>
                </a:solidFill>
                <a:latin typeface="Source Sans 3" pitchFamily="34" charset="0"/>
                <a:ea typeface="Source Sans 3" pitchFamily="34" charset="-122"/>
                <a:cs typeface="Source Sans 3" pitchFamily="34" charset="-120"/>
              </a:rPr>
              <a:t>Hybrid generation (rules + transformers) balances quality and compute cost.</a:t>
            </a:r>
            <a:endParaRPr lang="en-US" sz="750" dirty="0"/>
          </a:p>
        </p:txBody>
      </p:sp>
      <p:pic>
        <p:nvPicPr>
          <p:cNvPr id="5" name="Image 0" descr="preencoded.png">    </p:cNvPr>
          <p:cNvPicPr>
            <a:picLocks noChangeAspect="1"/>
          </p:cNvPicPr>
          <p:nvPr/>
        </p:nvPicPr>
        <p:blipFill>
          <a:blip r:embed="rId1"/>
          <a:stretch>
            <a:fillRect/>
          </a:stretch>
        </p:blipFill>
        <p:spPr>
          <a:xfrm>
            <a:off x="5956176" y="800621"/>
            <a:ext cx="2696394" cy="2696394"/>
          </a:xfrm>
          <a:prstGeom prst="rect">
            <a:avLst/>
          </a:prstGeom>
        </p:spPr>
      </p:pic>
      <p:sp>
        <p:nvSpPr>
          <p:cNvPr id="6" name="Text 3"/>
          <p:cNvSpPr/>
          <p:nvPr/>
        </p:nvSpPr>
        <p:spPr>
          <a:xfrm>
            <a:off x="496119" y="3703662"/>
            <a:ext cx="8151763" cy="154409"/>
          </a:xfrm>
          <a:prstGeom prst="rect">
            <a:avLst/>
          </a:prstGeom>
          <a:noFill/>
          <a:ln/>
        </p:spPr>
        <p:txBody>
          <a:bodyPr wrap="none" lIns="0" tIns="0" rIns="0" bIns="0" rtlCol="0" anchor="t"/>
          <a:lstStyle/>
          <a:p>
            <a:pPr algn="l" indent="0" marL="0">
              <a:lnSpc>
                <a:spcPct val="104000"/>
              </a:lnSpc>
              <a:buNone/>
            </a:pPr>
            <a:r>
              <a:rPr lang="en-US" sz="950" dirty="0">
                <a:solidFill>
                  <a:srgbClr val="124E73"/>
                </a:solidFill>
                <a:latin typeface="MuseoModerno Medium" pitchFamily="34" charset="0"/>
                <a:ea typeface="MuseoModerno Medium" pitchFamily="34" charset="-122"/>
                <a:cs typeface="MuseoModerno Medium" pitchFamily="34" charset="-120"/>
              </a:rPr>
              <a:t>Future Scope</a:t>
            </a:r>
            <a:endParaRPr lang="en-US" sz="950" dirty="0"/>
          </a:p>
        </p:txBody>
      </p:sp>
      <p:sp>
        <p:nvSpPr>
          <p:cNvPr id="7" name="Text 4"/>
          <p:cNvSpPr/>
          <p:nvPr/>
        </p:nvSpPr>
        <p:spPr>
          <a:xfrm>
            <a:off x="496119" y="3976167"/>
            <a:ext cx="8151763" cy="820415"/>
          </a:xfrm>
          <a:prstGeom prst="rect">
            <a:avLst/>
          </a:prstGeom>
          <a:noFill/>
          <a:ln/>
        </p:spPr>
        <p:txBody>
          <a:bodyPr wrap="square" lIns="0" tIns="0" rIns="0" bIns="0" rtlCol="0" anchor="t">
            <a:normAutofit/>
          </a:bodyPr>
          <a:lstStyle/>
          <a:p>
            <a:pPr algn="l" marL="152400" indent="-152400">
              <a:lnSpc>
                <a:spcPct val="120000"/>
              </a:lnSpc>
              <a:buSzPct val="100000"/>
              <a:buFont typeface="+mj-lt"/>
              <a:buAutoNum type="arabicPeriod" startAt="1"/>
            </a:pPr>
            <a:r>
              <a:rPr lang="en-US" sz="750" dirty="0">
                <a:solidFill>
                  <a:srgbClr val="2B4150"/>
                </a:solidFill>
                <a:latin typeface="Source Sans 3" pitchFamily="34" charset="0"/>
                <a:ea typeface="Source Sans 3" pitchFamily="34" charset="-122"/>
                <a:cs typeface="Source Sans 3" pitchFamily="34" charset="-120"/>
              </a:rPr>
              <a:t>Integrate transformer-based Q&amp;A generation with quality-ranking models.</a:t>
            </a:r>
            <a:endParaRPr lang="en-US" sz="750" dirty="0"/>
          </a:p>
          <a:p>
            <a:pPr algn="l" marL="152400" indent="-152400">
              <a:lnSpc>
                <a:spcPct val="120000"/>
              </a:lnSpc>
              <a:buSzPct val="100000"/>
              <a:buFont typeface="+mj-lt"/>
              <a:buAutoNum type="arabicPeriod" startAt="2"/>
            </a:pPr>
            <a:r>
              <a:rPr lang="en-US" sz="750" dirty="0">
                <a:solidFill>
                  <a:srgbClr val="2B4150"/>
                </a:solidFill>
                <a:latin typeface="Source Sans 3" pitchFamily="34" charset="0"/>
                <a:ea typeface="Source Sans 3" pitchFamily="34" charset="-122"/>
                <a:cs typeface="Source Sans 3" pitchFamily="34" charset="-120"/>
              </a:rPr>
              <a:t>Multi-language support and OCR improvements.</a:t>
            </a:r>
            <a:endParaRPr lang="en-US" sz="750" dirty="0"/>
          </a:p>
          <a:p>
            <a:pPr algn="l" marL="152400" indent="-152400">
              <a:lnSpc>
                <a:spcPct val="120000"/>
              </a:lnSpc>
              <a:buSzPct val="100000"/>
              <a:buFont typeface="+mj-lt"/>
              <a:buAutoNum type="arabicPeriod" startAt="3"/>
            </a:pPr>
            <a:r>
              <a:rPr lang="en-US" sz="750" dirty="0">
                <a:solidFill>
                  <a:srgbClr val="2B4150"/>
                </a:solidFill>
                <a:latin typeface="Source Sans 3" pitchFamily="34" charset="0"/>
                <a:ea typeface="Source Sans 3" pitchFamily="34" charset="-122"/>
                <a:cs typeface="Source Sans 3" pitchFamily="34" charset="-120"/>
              </a:rPr>
              <a:t>Cloud-based storage and collaborative authoring tools.</a:t>
            </a:r>
            <a:endParaRPr lang="en-US" sz="750" dirty="0"/>
          </a:p>
          <a:p>
            <a:pPr algn="l" marL="152400" indent="-152400">
              <a:lnSpc>
                <a:spcPct val="120000"/>
              </a:lnSpc>
              <a:buSzPct val="100000"/>
              <a:buFont typeface="+mj-lt"/>
              <a:buAutoNum type="arabicPeriod" startAt="4"/>
            </a:pPr>
            <a:r>
              <a:rPr lang="en-US" sz="750" dirty="0">
                <a:solidFill>
                  <a:srgbClr val="2B4150"/>
                </a:solidFill>
                <a:latin typeface="Source Sans 3" pitchFamily="34" charset="0"/>
                <a:ea typeface="Source Sans 3" pitchFamily="34" charset="-122"/>
                <a:cs typeface="Source Sans 3" pitchFamily="34" charset="-120"/>
              </a:rPr>
              <a:t>ML models for automated difficulty and quality prediction.</a:t>
            </a:r>
            <a:endParaRPr lang="en-US" sz="750" dirty="0"/>
          </a:p>
          <a:p>
            <a:pPr algn="l" marL="152400" indent="-152400">
              <a:lnSpc>
                <a:spcPct val="120000"/>
              </a:lnSpc>
              <a:buSzPct val="100000"/>
              <a:buFont typeface="+mj-lt"/>
              <a:buAutoNum type="arabicPeriod" startAt="5"/>
            </a:pPr>
            <a:r>
              <a:rPr lang="en-US" sz="750" dirty="0">
                <a:solidFill>
                  <a:srgbClr val="2B4150"/>
                </a:solidFill>
                <a:latin typeface="Source Sans 3" pitchFamily="34" charset="0"/>
                <a:ea typeface="Source Sans 3" pitchFamily="34" charset="-122"/>
                <a:cs typeface="Source Sans 3" pitchFamily="34" charset="-120"/>
              </a:rPr>
              <a:t>Integration with LMS via REST APIs for seamless export/import.</a:t>
            </a:r>
            <a:endParaRPr lang="en-US" sz="7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nvSpPr>
        <p:spPr>
          <a:xfrm>
            <a:off x="496119" y="858441"/>
            <a:ext cx="8151763" cy="310083"/>
          </a:xfrm>
          <a:prstGeom prst="rect">
            <a:avLst/>
          </a:prstGeom>
          <a:noFill/>
          <a:ln/>
        </p:spPr>
        <p:txBody>
          <a:bodyPr wrap="none" lIns="0" tIns="0" rIns="0" bIns="0" rtlCol="0" anchor="t"/>
          <a:lstStyle/>
          <a:p>
            <a:pPr algn="l" indent="0" marL="0">
              <a:lnSpc>
                <a:spcPct val="104000"/>
              </a:lnSpc>
              <a:buNone/>
            </a:pPr>
            <a:r>
              <a:rPr lang="en-US" sz="1950" dirty="0">
                <a:solidFill>
                  <a:srgbClr val="124E73"/>
                </a:solidFill>
                <a:latin typeface="MuseoModerno Medium" pitchFamily="34" charset="0"/>
                <a:ea typeface="MuseoModerno Medium" pitchFamily="34" charset="-122"/>
                <a:cs typeface="MuseoModerno Medium" pitchFamily="34" charset="-120"/>
              </a:rPr>
              <a:t>References</a:t>
            </a:r>
            <a:endParaRPr lang="en-US" sz="1950" dirty="0"/>
          </a:p>
        </p:txBody>
      </p:sp>
      <p:sp>
        <p:nvSpPr>
          <p:cNvPr id="3" name="Text 1"/>
          <p:cNvSpPr/>
          <p:nvPr/>
        </p:nvSpPr>
        <p:spPr>
          <a:xfrm>
            <a:off x="496119" y="1416546"/>
            <a:ext cx="8151763" cy="1888406"/>
          </a:xfrm>
          <a:prstGeom prst="rect">
            <a:avLst/>
          </a:prstGeom>
          <a:noFill/>
          <a:ln/>
        </p:spPr>
        <p:txBody>
          <a:bodyPr wrap="square" lIns="0" tIns="0" rIns="0" bIns="0" rtlCol="0" anchor="t"/>
          <a:lstStyle/>
          <a:p>
            <a:pPr algn="l" indent="0" marL="0">
              <a:lnSpc>
                <a:spcPct val="133000"/>
              </a:lnSpc>
              <a:spcAft>
                <a:spcPts val="1050"/>
              </a:spcAft>
              <a:buNone/>
            </a:pPr>
            <a:r>
              <a:rPr lang="en-US" sz="950" dirty="0">
                <a:solidFill>
                  <a:srgbClr val="2B4150"/>
                </a:solidFill>
                <a:latin typeface="Source Sans 3" pitchFamily="34" charset="0"/>
                <a:ea typeface="Source Sans 3" pitchFamily="34" charset="-122"/>
                <a:cs typeface="Source Sans 3" pitchFamily="34" charset="-120"/>
              </a:rPr>
              <a:t>     1. Heilman, M., &amp; Smith, N. A., “Good Question! Statistical Ranking for Question Generation,” NAACL, 2010.     </a:t>
            </a:r>
            <a:endParaRPr lang="en-US" sz="950" dirty="0"/>
          </a:p>
          <a:p>
            <a:pPr algn="l" indent="0" marL="0">
              <a:lnSpc>
                <a:spcPct val="133000"/>
              </a:lnSpc>
              <a:spcAft>
                <a:spcPts val="1050"/>
              </a:spcAft>
              <a:buNone/>
            </a:pPr>
            <a:r>
              <a:rPr lang="en-US" sz="950" dirty="0">
                <a:solidFill>
                  <a:srgbClr val="2B4150"/>
                </a:solidFill>
                <a:latin typeface="Source Sans 3" pitchFamily="34" charset="0"/>
                <a:ea typeface="Source Sans 3" pitchFamily="34" charset="-122"/>
                <a:cs typeface="Source Sans 3" pitchFamily="34" charset="-120"/>
              </a:rPr>
              <a:t>     2. Du, X., Shao, J., &amp; Cardie, C., “Learning to Ask: Neural Question Generation for Reading Comprehension,” ACL, 2017.   </a:t>
            </a:r>
            <a:endParaRPr lang="en-US" sz="950" dirty="0"/>
          </a:p>
          <a:p>
            <a:pPr algn="l" indent="0" marL="0">
              <a:lnSpc>
                <a:spcPct val="133000"/>
              </a:lnSpc>
              <a:spcAft>
                <a:spcPts val="1050"/>
              </a:spcAft>
              <a:buNone/>
            </a:pPr>
            <a:r>
              <a:rPr lang="en-US" sz="950" dirty="0">
                <a:solidFill>
                  <a:srgbClr val="2B4150"/>
                </a:solidFill>
                <a:latin typeface="Source Sans 3" pitchFamily="34" charset="0"/>
                <a:ea typeface="Source Sans 3" pitchFamily="34" charset="-122"/>
                <a:cs typeface="Source Sans 3" pitchFamily="34" charset="-120"/>
              </a:rPr>
              <a:t>     3. Wang, L., &amp; Wan, X., “A Reinforced Topic-Aware Neural Question Generation,” EMNLP, 2018.   </a:t>
            </a:r>
            <a:endParaRPr lang="en-US" sz="950" dirty="0"/>
          </a:p>
          <a:p>
            <a:pPr algn="l" indent="0" marL="0">
              <a:lnSpc>
                <a:spcPct val="133000"/>
              </a:lnSpc>
              <a:spcAft>
                <a:spcPts val="1050"/>
              </a:spcAft>
              <a:buNone/>
            </a:pPr>
            <a:r>
              <a:rPr lang="en-US" sz="950" dirty="0">
                <a:solidFill>
                  <a:srgbClr val="2B4150"/>
                </a:solidFill>
                <a:latin typeface="Source Sans 3" pitchFamily="34" charset="0"/>
                <a:ea typeface="Source Sans 3" pitchFamily="34" charset="-122"/>
                <a:cs typeface="Source Sans 3" pitchFamily="34" charset="-120"/>
              </a:rPr>
              <a:t>     4. spaCy documentation — https://spacy.io/ (accessed 2026)     </a:t>
            </a:r>
            <a:endParaRPr lang="en-US" sz="950" dirty="0"/>
          </a:p>
          <a:p>
            <a:pPr algn="l" indent="0" marL="0">
              <a:lnSpc>
                <a:spcPct val="133000"/>
              </a:lnSpc>
              <a:spcAft>
                <a:spcPts val="1050"/>
              </a:spcAft>
              <a:buNone/>
            </a:pPr>
            <a:r>
              <a:rPr lang="en-US" sz="950" dirty="0">
                <a:solidFill>
                  <a:srgbClr val="2B4150"/>
                </a:solidFill>
                <a:latin typeface="Source Sans 3" pitchFamily="34" charset="0"/>
                <a:ea typeface="Source Sans 3" pitchFamily="34" charset="-122"/>
                <a:cs typeface="Source Sans 3" pitchFamily="34" charset="-120"/>
              </a:rPr>
              <a:t>     5. NLTK documentation — https://www.nltk.org/ (accessed 2026)     </a:t>
            </a:r>
            <a:endParaRPr lang="en-US" sz="950" dirty="0"/>
          </a:p>
          <a:p>
            <a:pPr algn="l" indent="0" marL="0">
              <a:lnSpc>
                <a:spcPct val="133000"/>
              </a:lnSpc>
              <a:buNone/>
            </a:pPr>
            <a:r>
              <a:rPr lang="en-US" sz="950" dirty="0">
                <a:solidFill>
                  <a:srgbClr val="2B4150"/>
                </a:solidFill>
                <a:latin typeface="Source Sans 3" pitchFamily="34" charset="0"/>
                <a:ea typeface="Source Sans 3" pitchFamily="34" charset="-122"/>
                <a:cs typeface="Source Sans 3" pitchFamily="34" charset="-120"/>
              </a:rPr>
              <a:t>     6. SQLite documentation — https://www.sqlite.org/docs.html (accessed 2026)   </a:t>
            </a:r>
            <a:endParaRPr lang="en-US" sz="950" dirty="0"/>
          </a:p>
        </p:txBody>
      </p:sp>
      <p:sp>
        <p:nvSpPr>
          <p:cNvPr id="4" name="Shape 2"/>
          <p:cNvSpPr/>
          <p:nvPr/>
        </p:nvSpPr>
        <p:spPr>
          <a:xfrm>
            <a:off x="496119" y="3475434"/>
            <a:ext cx="8151763" cy="14288"/>
          </a:xfrm>
          <a:prstGeom prst="roundRect">
            <a:avLst>
              <a:gd name="adj" fmla="val 49998"/>
            </a:avLst>
          </a:prstGeom>
          <a:solidFill>
            <a:srgbClr val="2B4150">
              <a:alpha val="50000"/>
            </a:srgbClr>
          </a:solidFill>
          <a:ln/>
        </p:spPr>
      </p:sp>
      <p:sp>
        <p:nvSpPr>
          <p:cNvPr id="5" name="Text 3"/>
          <p:cNvSpPr/>
          <p:nvPr/>
        </p:nvSpPr>
        <p:spPr>
          <a:xfrm>
            <a:off x="496119" y="3706713"/>
            <a:ext cx="8151763" cy="193849"/>
          </a:xfrm>
          <a:prstGeom prst="rect">
            <a:avLst/>
          </a:prstGeom>
          <a:noFill/>
          <a:ln/>
        </p:spPr>
        <p:txBody>
          <a:bodyPr wrap="none" lIns="0" tIns="0" rIns="0" bIns="0" rtlCol="0" anchor="t"/>
          <a:lstStyle/>
          <a:p>
            <a:pPr algn="ctr" indent="0" marL="0">
              <a:lnSpc>
                <a:spcPct val="104000"/>
              </a:lnSpc>
              <a:buNone/>
            </a:pPr>
            <a:r>
              <a:rPr lang="en-US" sz="1200" dirty="0">
                <a:solidFill>
                  <a:srgbClr val="124E73"/>
                </a:solidFill>
                <a:latin typeface="MuseoModerno Medium" pitchFamily="34" charset="0"/>
                <a:ea typeface="MuseoModerno Medium" pitchFamily="34" charset="-122"/>
                <a:cs typeface="MuseoModerno Medium" pitchFamily="34" charset="-120"/>
              </a:rPr>
              <a:t>Thank You</a:t>
            </a:r>
            <a:endParaRPr lang="en-US" sz="1200" dirty="0"/>
          </a:p>
        </p:txBody>
      </p:sp>
      <p:sp>
        <p:nvSpPr>
          <p:cNvPr id="6" name="Text 4"/>
          <p:cNvSpPr/>
          <p:nvPr/>
        </p:nvSpPr>
        <p:spPr>
          <a:xfrm>
            <a:off x="267519" y="4086597"/>
            <a:ext cx="8608963" cy="198462"/>
          </a:xfrm>
          <a:prstGeom prst="rect">
            <a:avLst/>
          </a:prstGeom>
          <a:noFill/>
          <a:ln/>
        </p:spPr>
        <p:txBody>
          <a:bodyPr wrap="none" lIns="0" tIns="0" rIns="0" bIns="0" rtlCol="0" anchor="t"/>
          <a:lstStyle/>
          <a:p>
            <a:pPr algn="ctr" indent="0" marL="0">
              <a:lnSpc>
                <a:spcPct val="133000"/>
              </a:lnSpc>
              <a:buNone/>
            </a:pPr>
            <a:r>
              <a:rPr lang="en-US" sz="950" dirty="0">
                <a:solidFill>
                  <a:srgbClr val="2B4150"/>
                </a:solidFill>
                <a:latin typeface="Source Sans 3" pitchFamily="34" charset="0"/>
                <a:ea typeface="Source Sans 3" pitchFamily="34" charset="-122"/>
                <a:cs typeface="Source Sans 3" pitchFamily="34" charset="-120"/>
              </a:rPr>
              <a:t>Questions &amp; Answers</a:t>
            </a:r>
            <a:endParaRPr lang="en-US" sz="9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10</Slides>
  <Notes>10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10</vt:i4>
      </vt:variant>
    </vt:vector>
  </HeadingPairs>
  <TitlesOfParts>
    <vt:vector size="1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lastModifiedBy/>
  <cp:revision>1</cp:revision>
  <dcterms:created xsi:type="dcterms:W3CDTF">2026-08-17T05:05:49Z</dcterms:created>
  <dcterms:modified xsi:type="dcterms:W3CDTF">2026-08-17T05:05:49Z</dcterms:modified>
</cp:coreProperties>
</file>